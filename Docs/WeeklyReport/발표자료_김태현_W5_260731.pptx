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95" r:id="rId4"/>
    <p:sldId id="311" r:id="rId5"/>
    <p:sldId id="296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8" r:id="rId15"/>
    <p:sldId id="309" r:id="rId16"/>
    <p:sldId id="306" r:id="rId17"/>
    <p:sldId id="310" r:id="rId18"/>
    <p:sldId id="31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392" autoAdjust="0"/>
  </p:normalViewPr>
  <p:slideViewPr>
    <p:cSldViewPr snapToGrid="0">
      <p:cViewPr varScale="1">
        <p:scale>
          <a:sx n="106" d="100"/>
          <a:sy n="106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E0652-DD3F-4B77-AAC8-4A9F7E6B4C9A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A5CE9-B369-4DCA-B391-96CB8A8C7F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60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2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97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849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CA5CE9-B369-4DCA-B391-96CB8A8C7F3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5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D8888-CBA0-144C-CDBA-6295EFF5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4826A7-2135-4121-6517-06CD60A44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A6D9D-628D-64B1-5E69-F63F3FEA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DCD18-A23E-B987-55C8-911EB43F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0FF76F-E804-3E33-7A04-1109977F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BE69D-8D97-1C4A-FCC0-E54AB2C0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05444F-BE5C-F1C4-7DE6-242ADA509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5C19D-3BD6-75C9-BEBF-03915F1AC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BC6C4-9E25-92A9-799A-8227B42D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230254-D903-AFE0-EE65-764AF7B1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91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7A20-8EDD-B238-33B7-3F349DF1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9FD23-677F-95B4-EC97-D65B14F78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48BBF6-A937-CDED-CCAB-24FAF8C1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12FE2-90C4-FDB4-BD27-69878A20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DF7A2-0EC6-9B6D-C961-A44F32FE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75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0B358-8A1C-2553-5AA7-888DFB01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56FAD-7C29-8C37-901D-682A0F7A5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A41119-7A3E-48BB-2FF3-5C603F789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E72136-1253-7155-52FD-1601C8D8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503CB-F848-3EB3-0EC9-A584497B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BF1E92-B4F4-A1BA-0A00-486C5C59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9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AE711-804F-3CF8-8391-6EC0F14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0A439C-5B47-EFAE-5B81-09D561832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8BEE18-A99C-BFD0-FF4B-92D0F3FB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308A33-C473-C137-3D28-D60CA87D6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7362C7-CFA9-DFFD-BECB-B043A1213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CDC385-6CCC-80B3-9F51-94AE09A0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C117E-3855-21E5-9DEE-0CC25D273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9C6A2E5-036F-4701-0FCC-B7A30E48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56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95F14-8F17-AE7F-3C6E-11A50748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FCC027-1BDA-826F-65C6-29C9FB9AC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4771BE-19F1-EC23-6F67-2DCFDB3E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B00286-DC1F-50AF-32AB-9FE0EE4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981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 하나 크게 보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7FE80-5F02-64A4-5B46-6584C3F8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E34D5E-D4D6-B0CB-8AAF-A1198D79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0BB7DB-908D-7BED-C6DA-1B6501D9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40793F-502F-5D2F-156F-10EE6259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F55913-E4AF-2BFA-FD8B-047918690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61614" y="365125"/>
            <a:ext cx="6393774" cy="6356350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A24BF87-C6DB-EA97-0432-5AD7CE662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00777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26218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04B17B-4E78-F5D4-6127-F0A80ACA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7B9E72-8476-F445-6E8E-CB48E42B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2AED9-C0D8-3798-A6D9-9CAAEC4B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85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43CB5-E836-4FBD-A575-EF899CAE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59425-A64A-A13C-573F-7BB0CE32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189508-BA86-1123-114A-CAB599E5C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402AF1-B709-431E-A232-9D2D1502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A7B85D-4324-DFA0-4177-F28219C1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12AFC5-B43F-F8C5-1158-4CD57FFA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1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BF6EF-1990-FE0F-9D65-5421457C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F2E12D-D5A6-B565-A89C-5349F92D8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8400D7-5EF6-56C1-6324-E515CF523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0C0F4F-FB89-4B79-8842-06DBE422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67FDB2-61E2-B7A3-8F6E-C7D098A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076F6-43A4-C093-4A8A-01457B2A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27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8BFFC-B1AC-66BA-40F9-1639E7A8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0CEB09-9883-6F57-646C-268DF2152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0947B-F8CA-BBA4-CC8A-B10236B4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39F7A8-57E6-E94C-E0A4-55A51AF1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718E3E-7643-E2A4-BDA5-E92BB65F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7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CA2A60-CC10-1A5E-D29E-0A3CE1B9C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011DF0-059B-2AAF-C532-A229C1F51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E59C5-7B80-5EB7-5AC0-FD387770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2017B-2489-28CF-478B-04F49749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F7EB1B-44D1-6665-69B1-944911415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71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290BCC-C26A-92B8-B35E-9C869FEE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931CD-D02C-C2B8-209C-A0E44F9FF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034173-B8B1-303D-0374-A95A5F695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D6682-63CE-4B0C-803D-BD262BEC548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0CC5E-2607-B86D-47B6-5842CEDC3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5AFB7D-B1DC-15CC-D256-ED66183A9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287A1-C808-49A0-B21C-3554670D13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DemiLight" panose="020B0200000000000000" pitchFamily="50" charset="-127"/>
          <a:ea typeface="Noto Sans KR DemiLight" panose="020B0200000000000000" pitchFamily="50" charset="-127"/>
          <a:cs typeface="ADLaM Display" panose="020F0502020204030204" pitchFamily="2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Light" panose="020B0200000000000000" pitchFamily="50" charset="-127"/>
          <a:ea typeface="Noto Sans KR Light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A96AA-B6D7-B5AB-26C9-A3EBC486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/>
              <a:t>5</a:t>
            </a:r>
            <a:r>
              <a:rPr lang="ko-KR" altLang="en-US" dirty="0"/>
              <a:t>주차 작업 현황 보고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9E4911-65E1-31AA-A480-3B1C7ADEA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26.07.27 ~ 26.07.31</a:t>
            </a:r>
          </a:p>
          <a:p>
            <a:r>
              <a:rPr lang="ko-KR" altLang="en-US" dirty="0"/>
              <a:t>김태현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9345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4EED1CDA-692D-AC99-0033-EDE444A8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 한 것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F0CF37D-BBE6-EF10-38C1-B19981BE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제자리 회전 개선</a:t>
            </a:r>
            <a:endParaRPr lang="en-US" altLang="ko-KR" dirty="0"/>
          </a:p>
          <a:p>
            <a:r>
              <a:rPr lang="ko-KR" altLang="en-US" dirty="0"/>
              <a:t>몸통 기울기 작업</a:t>
            </a:r>
            <a:endParaRPr lang="en-US" altLang="ko-KR" dirty="0"/>
          </a:p>
          <a:p>
            <a:r>
              <a:rPr lang="ko-KR" altLang="en-US" dirty="0"/>
              <a:t>접지</a:t>
            </a:r>
            <a:r>
              <a:rPr lang="en-US" altLang="ko-KR" dirty="0"/>
              <a:t>(Grounded) </a:t>
            </a:r>
            <a:r>
              <a:rPr lang="ko-KR" altLang="en-US" dirty="0"/>
              <a:t>판정 개선</a:t>
            </a:r>
            <a:endParaRPr lang="en-US" altLang="ko-KR" dirty="0"/>
          </a:p>
          <a:p>
            <a:r>
              <a:rPr lang="ko-KR" altLang="en-US" dirty="0"/>
              <a:t>점프 조건 판단 로직 개선</a:t>
            </a:r>
            <a:endParaRPr lang="en-US" altLang="ko-KR" dirty="0"/>
          </a:p>
          <a:p>
            <a:r>
              <a:rPr lang="ko-KR" altLang="en-US" dirty="0"/>
              <a:t>장애물 센서 개선 </a:t>
            </a:r>
            <a:r>
              <a:rPr lang="en-US" altLang="ko-KR" dirty="0"/>
              <a:t>(</a:t>
            </a:r>
            <a:r>
              <a:rPr lang="ko-KR" altLang="en-US" dirty="0"/>
              <a:t>진행 중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441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44464-E512-84C1-B09B-DB4BF508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제자리 회전 보강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81539-2490-7D9C-6A83-8E606F829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좁은 골목길에서 제자리 회전을 하면 낄 수 있음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Depenetrate</a:t>
            </a:r>
            <a:r>
              <a:rPr lang="ko-KR" altLang="en-US" dirty="0"/>
              <a:t>를 일정 횟수 반복 후에도 </a:t>
            </a:r>
            <a:r>
              <a:rPr lang="ko-KR" altLang="en-US" dirty="0" err="1"/>
              <a:t>겹쳐져있다면</a:t>
            </a:r>
            <a:r>
              <a:rPr lang="ko-KR" altLang="en-US" dirty="0"/>
              <a:t> 회전 취소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9F07B74-0EF3-98D1-A4D1-145BFF0B1B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1015" y="1825625"/>
            <a:ext cx="48839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0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20260731-0344-22.8890425">
            <a:hlinkClick r:id="" action="ppaction://media"/>
            <a:extLst>
              <a:ext uri="{FF2B5EF4-FFF2-40B4-BE49-F238E27FC236}">
                <a16:creationId xmlns:a16="http://schemas.microsoft.com/office/drawing/2014/main" id="{F3B86B40-D4D4-99F6-F193-F76B0794DAAF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09536" y="643466"/>
            <a:ext cx="617292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4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A669F3A-2FC9-738F-8E57-C4DB99E4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몸통 하단부 판정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1A6F6CC-E453-BD99-05AD-5BA9126C64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얕은 턱에서 다리가 통과 가능</a:t>
            </a:r>
            <a:endParaRPr lang="en-US" altLang="ko-KR" dirty="0"/>
          </a:p>
          <a:p>
            <a:r>
              <a:rPr lang="en-US" altLang="ko-KR" dirty="0"/>
              <a:t>IK</a:t>
            </a:r>
            <a:r>
              <a:rPr lang="ko-KR" altLang="en-US" dirty="0"/>
              <a:t>로 </a:t>
            </a:r>
            <a:r>
              <a:rPr lang="ko-KR" altLang="en-US" dirty="0" err="1"/>
              <a:t>해결하자니</a:t>
            </a:r>
            <a:r>
              <a:rPr lang="ko-KR" altLang="en-US" dirty="0"/>
              <a:t> 애초에 오를 수 없는 단차에서 발이 올라가게 됨</a:t>
            </a:r>
          </a:p>
        </p:txBody>
      </p:sp>
      <p:pic>
        <p:nvPicPr>
          <p:cNvPr id="16" name="내용 개체 틀 15">
            <a:extLst>
              <a:ext uri="{FF2B5EF4-FFF2-40B4-BE49-F238E27FC236}">
                <a16:creationId xmlns:a16="http://schemas.microsoft.com/office/drawing/2014/main" id="{736722E0-F689-40D7-043C-A8F4EEB02F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1770" y="1825625"/>
            <a:ext cx="48024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9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5353E-1F7C-D5D9-1185-2A08C36C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몸통 하단부 판정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4320C1-205D-2B51-7D50-F65A9DC8A6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몸통 하단부 박스 판정을 추가하여 보강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6AFE223C-7900-F45E-470D-DCC972906A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1297" y="1825625"/>
            <a:ext cx="47034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86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07914-3CF1-BD9B-D25F-3D78702F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몸통 하단부 판정</a:t>
            </a:r>
          </a:p>
        </p:txBody>
      </p:sp>
      <p:pic>
        <p:nvPicPr>
          <p:cNvPr id="12" name="내용 개체 틀 11" descr="말 단색으로 채워진">
            <a:extLst>
              <a:ext uri="{FF2B5EF4-FFF2-40B4-BE49-F238E27FC236}">
                <a16:creationId xmlns:a16="http://schemas.microsoft.com/office/drawing/2014/main" id="{C13EDBD2-293D-CC67-22A1-46DFF90E363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4737" y="131514"/>
            <a:ext cx="6408821" cy="6408821"/>
          </a:xfrm>
        </p:spPr>
      </p:pic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4320CBEB-F5A6-78BC-B00B-D559C135C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07922" cy="4351338"/>
          </a:xfrm>
        </p:spPr>
        <p:txBody>
          <a:bodyPr/>
          <a:lstStyle/>
          <a:p>
            <a:r>
              <a:rPr lang="ko-KR" altLang="en-US" dirty="0"/>
              <a:t>그림과 같은 상황에서 잘못된 밀려남이 발생할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Block.Normal</a:t>
            </a:r>
            <a:r>
              <a:rPr lang="ko-KR" altLang="en-US" dirty="0"/>
              <a:t>이 수직에 </a:t>
            </a:r>
            <a:br>
              <a:rPr lang="en-US" altLang="ko-KR" dirty="0"/>
            </a:br>
            <a:r>
              <a:rPr lang="ko-KR" altLang="en-US" dirty="0"/>
              <a:t>가까울 경우 무시하도록 처리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en-US" altLang="ko-KR" sz="2000" dirty="0" err="1"/>
              <a:t>Depenetrate</a:t>
            </a:r>
            <a:r>
              <a:rPr lang="ko-KR" altLang="en-US" sz="2000" dirty="0"/>
              <a:t>를 물리 엔진에 맡기지 않으므로 커스텀 로직으로 처리 가능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9AA05E-4308-F50F-7467-E4BF00FF0548}"/>
              </a:ext>
            </a:extLst>
          </p:cNvPr>
          <p:cNvSpPr/>
          <p:nvPr/>
        </p:nvSpPr>
        <p:spPr>
          <a:xfrm>
            <a:off x="6288505" y="3938337"/>
            <a:ext cx="3761874" cy="119513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8BE6C93-93E8-49BE-C51F-7C8378D1DFF3}"/>
              </a:ext>
            </a:extLst>
          </p:cNvPr>
          <p:cNvSpPr/>
          <p:nvPr/>
        </p:nvSpPr>
        <p:spPr>
          <a:xfrm rot="16200000">
            <a:off x="7445359" y="3977920"/>
            <a:ext cx="1808243" cy="524250"/>
          </a:xfrm>
          <a:prstGeom prst="rightArrow">
            <a:avLst>
              <a:gd name="adj1" fmla="val 69847"/>
              <a:gd name="adj2" fmla="val 4389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      </a:t>
            </a:r>
            <a:r>
              <a:rPr lang="en-US" altLang="ko-KR" sz="1400" dirty="0" err="1"/>
              <a:t>Block.Normal</a:t>
            </a:r>
            <a:endParaRPr lang="ko-KR" altLang="en-US" sz="1400" dirty="0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0C160991-4AF9-7935-DFE5-77FD5ACB358F}"/>
              </a:ext>
            </a:extLst>
          </p:cNvPr>
          <p:cNvSpPr/>
          <p:nvPr/>
        </p:nvSpPr>
        <p:spPr>
          <a:xfrm>
            <a:off x="8004139" y="4836695"/>
            <a:ext cx="706724" cy="113898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06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007AF7B-01EF-2FE0-109A-5B3748E17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한계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3FF760D0-29B2-A6A7-8151-500181CC1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몸통과 다리부분의 판정 모두 수직 방향의 힘을 무시하고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그림과 같은 상황을 의도한다면 별도의 처리 필요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다리 사이에 장애물이 물리 </a:t>
            </a:r>
            <a:r>
              <a:rPr lang="ko-KR" altLang="en-US" dirty="0" err="1"/>
              <a:t>시뮬레이션되는</a:t>
            </a:r>
            <a:r>
              <a:rPr lang="ko-KR" altLang="en-US" dirty="0"/>
              <a:t> 물체일 경우</a:t>
            </a:r>
            <a:r>
              <a:rPr lang="en-US" altLang="ko-KR" dirty="0"/>
              <a:t>, Block.Normal </a:t>
            </a:r>
            <a:r>
              <a:rPr lang="ko-KR" altLang="en-US" dirty="0"/>
              <a:t>값이 튀며 순간적으로 말이 크게 밀려날 수 있음</a:t>
            </a:r>
            <a:endParaRPr lang="en-US" altLang="ko-KR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12374BED-ED59-4DB4-9889-207F7A4897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13358" y="718074"/>
            <a:ext cx="5181600" cy="2828627"/>
          </a:xfrm>
        </p:spPr>
      </p:pic>
      <p:pic>
        <p:nvPicPr>
          <p:cNvPr id="18" name="내용 개체 틀 11" descr="말 단색으로 채워진">
            <a:extLst>
              <a:ext uri="{FF2B5EF4-FFF2-40B4-BE49-F238E27FC236}">
                <a16:creationId xmlns:a16="http://schemas.microsoft.com/office/drawing/2014/main" id="{569B58E8-E0CF-171E-58DC-1508C27B3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3962" y="3245714"/>
            <a:ext cx="3247161" cy="3247161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97F3439-EED1-1866-E27A-D6B49EB4B624}"/>
              </a:ext>
            </a:extLst>
          </p:cNvPr>
          <p:cNvSpPr/>
          <p:nvPr/>
        </p:nvSpPr>
        <p:spPr>
          <a:xfrm rot="19344589">
            <a:off x="7615242" y="5235812"/>
            <a:ext cx="1808243" cy="524250"/>
          </a:xfrm>
          <a:prstGeom prst="rightArrow">
            <a:avLst>
              <a:gd name="adj1" fmla="val 69847"/>
              <a:gd name="adj2" fmla="val 4389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      </a:t>
            </a:r>
            <a:r>
              <a:rPr lang="en-US" altLang="ko-KR" sz="1400" dirty="0" err="1"/>
              <a:t>Block.Normal</a:t>
            </a:r>
            <a:endParaRPr lang="ko-KR" altLang="en-US" sz="1400" dirty="0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CCC727A9-1789-3A0B-A2EA-5242912328B7}"/>
              </a:ext>
            </a:extLst>
          </p:cNvPr>
          <p:cNvSpPr/>
          <p:nvPr/>
        </p:nvSpPr>
        <p:spPr>
          <a:xfrm rot="2381946">
            <a:off x="7643193" y="5848100"/>
            <a:ext cx="369840" cy="32886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EF40-AC35-4647-FF86-E64D20E88E05}"/>
              </a:ext>
            </a:extLst>
          </p:cNvPr>
          <p:cNvSpPr txBox="1"/>
          <p:nvPr/>
        </p:nvSpPr>
        <p:spPr>
          <a:xfrm>
            <a:off x="8927661" y="6056732"/>
            <a:ext cx="217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튕김 현상 발생</a:t>
            </a:r>
          </a:p>
        </p:txBody>
      </p:sp>
    </p:spTree>
    <p:extLst>
      <p:ext uri="{BB962C8B-B14F-4D97-AF65-F5344CB8AC3E}">
        <p14:creationId xmlns:p14="http://schemas.microsoft.com/office/powerpoint/2010/main" val="2398387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CCFC2-C8A5-907F-3F59-66D8AA48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몸통 기울기 구현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DFE66D-766A-166D-6282-FA7AE140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05266" cy="4351338"/>
          </a:xfrm>
        </p:spPr>
        <p:txBody>
          <a:bodyPr/>
          <a:lstStyle/>
          <a:p>
            <a:r>
              <a:rPr lang="ko-KR" altLang="en-US" dirty="0"/>
              <a:t>뒤 중앙 </a:t>
            </a:r>
            <a:r>
              <a:rPr lang="en-US" altLang="ko-KR" dirty="0"/>
              <a:t>/ </a:t>
            </a:r>
            <a:r>
              <a:rPr lang="ko-KR" altLang="en-US" dirty="0"/>
              <a:t>왼 앞발 </a:t>
            </a:r>
            <a:r>
              <a:rPr lang="en-US" altLang="ko-KR" dirty="0"/>
              <a:t>/ </a:t>
            </a:r>
            <a:r>
              <a:rPr lang="ko-KR" altLang="en-US" dirty="0"/>
              <a:t>오른 앞발</a:t>
            </a:r>
            <a:br>
              <a:rPr lang="en-US" altLang="ko-KR" dirty="0"/>
            </a:br>
            <a:r>
              <a:rPr lang="en-US" altLang="ko-KR" dirty="0"/>
              <a:t>3</a:t>
            </a:r>
            <a:r>
              <a:rPr lang="ko-KR" altLang="en-US" dirty="0"/>
              <a:t>곳에서 </a:t>
            </a:r>
            <a:r>
              <a:rPr lang="en-US" altLang="ko-KR" dirty="0" err="1"/>
              <a:t>raycast</a:t>
            </a:r>
            <a:r>
              <a:rPr lang="ko-KR" altLang="en-US" dirty="0"/>
              <a:t>하는 방식을 </a:t>
            </a:r>
            <a:br>
              <a:rPr lang="en-US" altLang="ko-KR" dirty="0"/>
            </a:br>
            <a:r>
              <a:rPr lang="ko-KR" altLang="en-US" dirty="0"/>
              <a:t>시도했으나 어색했음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Forward = 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앞발 평균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– 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뒤 중앙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Right = 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오른 앞발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– 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왼 앞발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46F23C9-DACA-500C-575F-FAC330EBF7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66" y="1825625"/>
            <a:ext cx="503906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9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B4343-A4E9-9E34-07BD-C9F11A6F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몸통 기울기 구현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49FAD2-AEA2-3F96-1DE4-8A11EA4F74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089358" cy="4351338"/>
              </a:xfrm>
            </p:spPr>
            <p:txBody>
              <a:bodyPr/>
              <a:lstStyle/>
              <a:p>
                <a:r>
                  <a:rPr lang="en-US" altLang="ko-KR" dirty="0"/>
                  <a:t>Roll</a:t>
                </a:r>
                <a:r>
                  <a:rPr lang="ko-KR" altLang="en-US" dirty="0"/>
                  <a:t>을 무시하도록 </a:t>
                </a:r>
                <a:r>
                  <a:rPr lang="ko-KR" altLang="en-US" dirty="0" err="1"/>
                  <a:t>재구현</a:t>
                </a:r>
                <a:endParaRPr lang="en-US" altLang="ko-KR" dirty="0"/>
              </a:p>
              <a:p>
                <a:r>
                  <a:rPr lang="ko-KR" altLang="en-US" dirty="0"/>
                  <a:t>앞발과 뒷발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개의 샘플만 사용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Forward = (</a:t>
                </a:r>
                <a:r>
                  <a:rPr lang="ko-KR" altLang="en-US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앞발</a:t>
                </a:r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 – (</a:t>
                </a:r>
                <a:r>
                  <a:rPr lang="ko-KR" altLang="en-US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뒷발</a:t>
                </a:r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</a:p>
              <a:p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Right = (Forward) </a:t>
                </a:r>
                <a14:m>
                  <m:oMath xmlns:m="http://schemas.openxmlformats.org/officeDocument/2006/math">
                    <m:r>
                      <a:rPr lang="en-US" altLang="ko-KR" sz="2000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(</a:t>
                </a:r>
                <a:r>
                  <a:rPr lang="en-US" altLang="ko-KR" sz="2000" dirty="0" err="1">
                    <a:latin typeface="D2Coding" panose="020B0609020101020101" pitchFamily="49" charset="-127"/>
                    <a:ea typeface="D2Coding" panose="020B0609020101020101" pitchFamily="49" charset="-127"/>
                  </a:rPr>
                  <a:t>WorldUp</a:t>
                </a:r>
                <a:r>
                  <a:rPr lang="en-US" altLang="ko-KR" sz="20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endParaRPr lang="ko-KR" altLang="en-US" sz="20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49FAD2-AEA2-3F96-1DE4-8A11EA4F7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089358" cy="4351338"/>
              </a:xfrm>
              <a:blipFill>
                <a:blip r:embed="rId2"/>
                <a:stretch>
                  <a:fillRect l="-2158" t="-2521" r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3BF9AF-C257-0342-A0C9-9E96955361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83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448E5C7-6C23-383B-DD98-69005E37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접지 판정 개선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00B41D-F435-0670-1704-96310986C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00537" cy="4351338"/>
          </a:xfrm>
        </p:spPr>
        <p:txBody>
          <a:bodyPr/>
          <a:lstStyle/>
          <a:p>
            <a:r>
              <a:rPr lang="ko-KR" altLang="en-US" dirty="0"/>
              <a:t>발의 일부만 걸쳐져 있을 때 </a:t>
            </a:r>
            <a:br>
              <a:rPr lang="en-US" altLang="ko-KR" dirty="0"/>
            </a:br>
            <a:r>
              <a:rPr lang="ko-KR" altLang="en-US" dirty="0"/>
              <a:t>언제 낙하를 시작할지 판단 필요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너무 일찍 떨어지면 몸이 지형을 뚫고 </a:t>
            </a:r>
            <a:br>
              <a:rPr lang="en-US" altLang="ko-KR" dirty="0"/>
            </a:br>
            <a:r>
              <a:rPr lang="ko-KR" altLang="en-US" dirty="0"/>
              <a:t>너무 늦게 떨어지면 부자연스러움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AD1B34-004A-E5F2-8690-0128E645E94E}"/>
              </a:ext>
            </a:extLst>
          </p:cNvPr>
          <p:cNvSpPr/>
          <p:nvPr/>
        </p:nvSpPr>
        <p:spPr>
          <a:xfrm>
            <a:off x="9192126" y="2506662"/>
            <a:ext cx="2999874" cy="435133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낭떠러지</a:t>
            </a:r>
          </a:p>
        </p:txBody>
      </p:sp>
      <p:pic>
        <p:nvPicPr>
          <p:cNvPr id="11" name="내용 개체 틀 11" descr="말 단색으로 채워진">
            <a:extLst>
              <a:ext uri="{FF2B5EF4-FFF2-40B4-BE49-F238E27FC236}">
                <a16:creationId xmlns:a16="http://schemas.microsoft.com/office/drawing/2014/main" id="{73FBC3B2-F45C-34C5-9551-AB575A14C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872747" y="3047250"/>
            <a:ext cx="2313989" cy="2313989"/>
          </a:xfrm>
          <a:prstGeom prst="rect">
            <a:avLst/>
          </a:prstGeom>
        </p:spPr>
      </p:pic>
      <p:pic>
        <p:nvPicPr>
          <p:cNvPr id="13" name="내용 개체 틀 11" descr="말 단색으로 채워진">
            <a:extLst>
              <a:ext uri="{FF2B5EF4-FFF2-40B4-BE49-F238E27FC236}">
                <a16:creationId xmlns:a16="http://schemas.microsoft.com/office/drawing/2014/main" id="{286A2B47-FBDF-01AF-E206-A4474E313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805947" y="483607"/>
            <a:ext cx="2313989" cy="2313989"/>
          </a:xfrm>
          <a:prstGeom prst="rect">
            <a:avLst/>
          </a:prstGeom>
        </p:spPr>
      </p:pic>
      <p:pic>
        <p:nvPicPr>
          <p:cNvPr id="15" name="내용 개체 틀 11" descr="말 단색으로 채워진">
            <a:extLst>
              <a:ext uri="{FF2B5EF4-FFF2-40B4-BE49-F238E27FC236}">
                <a16:creationId xmlns:a16="http://schemas.microsoft.com/office/drawing/2014/main" id="{318ECE1F-CB0F-538C-F86C-660E8E2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878011" y="462967"/>
            <a:ext cx="2313989" cy="2313989"/>
          </a:xfrm>
          <a:prstGeom prst="rect">
            <a:avLst/>
          </a:prstGeom>
        </p:spPr>
      </p:pic>
      <p:pic>
        <p:nvPicPr>
          <p:cNvPr id="17" name="그래픽 16" descr="물음표 단색으로 채워진">
            <a:extLst>
              <a:ext uri="{FF2B5EF4-FFF2-40B4-BE49-F238E27FC236}">
                <a16:creationId xmlns:a16="http://schemas.microsoft.com/office/drawing/2014/main" id="{4E0BB427-F23F-0833-C25B-2578156673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4095" y="266450"/>
            <a:ext cx="914400" cy="914400"/>
          </a:xfrm>
          <a:prstGeom prst="rect">
            <a:avLst/>
          </a:prstGeom>
        </p:spPr>
      </p:pic>
      <p:pic>
        <p:nvPicPr>
          <p:cNvPr id="19" name="그래픽 18" descr="물음표 단색으로 채워진">
            <a:extLst>
              <a:ext uri="{FF2B5EF4-FFF2-40B4-BE49-F238E27FC236}">
                <a16:creationId xmlns:a16="http://schemas.microsoft.com/office/drawing/2014/main" id="{C26C38E1-1065-A01F-E78B-CCC758B75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3190" y="292317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16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0AD66-AE33-4390-F326-921826EA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접지 판정 개선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999AA-78CA-732A-6250-DD5B06DBE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31042" cy="4351338"/>
          </a:xfrm>
        </p:spPr>
        <p:txBody>
          <a:bodyPr/>
          <a:lstStyle/>
          <a:p>
            <a:r>
              <a:rPr lang="ko-KR" altLang="en-US" dirty="0"/>
              <a:t>다리 사이에 </a:t>
            </a:r>
            <a:r>
              <a:rPr lang="en-US" altLang="ko-KR" dirty="0"/>
              <a:t>spear</a:t>
            </a:r>
            <a:r>
              <a:rPr lang="ko-KR" altLang="en-US" dirty="0"/>
              <a:t> 판정 추가</a:t>
            </a:r>
            <a:endParaRPr lang="en-US" altLang="ko-KR" dirty="0"/>
          </a:p>
          <a:p>
            <a:pPr lvl="1"/>
            <a:r>
              <a:rPr lang="en-US" altLang="ko-KR" dirty="0"/>
              <a:t>Ray</a:t>
            </a:r>
            <a:r>
              <a:rPr lang="ko-KR" altLang="en-US" dirty="0"/>
              <a:t>를 쓰면 </a:t>
            </a:r>
            <a:r>
              <a:rPr lang="ko-KR" altLang="en-US" dirty="0" err="1"/>
              <a:t>출렁다리</a:t>
            </a:r>
            <a:r>
              <a:rPr lang="ko-KR" altLang="en-US" dirty="0"/>
              <a:t> 등 틈새가 있는 지형에서 오작동 우려</a:t>
            </a:r>
            <a:endParaRPr lang="en-US" altLang="ko-KR" dirty="0"/>
          </a:p>
          <a:p>
            <a:r>
              <a:rPr lang="ko-KR" altLang="en-US" dirty="0"/>
              <a:t>접지 판정은 </a:t>
            </a:r>
            <a:r>
              <a:rPr lang="en-US" altLang="ko-KR" dirty="0"/>
              <a:t>center spear</a:t>
            </a:r>
            <a:r>
              <a:rPr lang="ko-KR" altLang="en-US" dirty="0"/>
              <a:t>가 담당</a:t>
            </a:r>
            <a:endParaRPr lang="en-US" altLang="ko-KR" dirty="0"/>
          </a:p>
          <a:p>
            <a:r>
              <a:rPr lang="ko-KR" altLang="en-US" dirty="0"/>
              <a:t>앞다리나 뒷다리가 공중에 </a:t>
            </a:r>
            <a:r>
              <a:rPr lang="ko-KR" altLang="en-US" dirty="0" err="1"/>
              <a:t>있을경우</a:t>
            </a:r>
            <a:r>
              <a:rPr lang="ko-KR" altLang="en-US" dirty="0"/>
              <a:t> 해당 방향으로 밀어내어</a:t>
            </a:r>
            <a:r>
              <a:rPr lang="en-US" altLang="ko-KR" dirty="0"/>
              <a:t> </a:t>
            </a:r>
            <a:r>
              <a:rPr lang="ko-KR" altLang="en-US" dirty="0"/>
              <a:t>실족 유도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06003E9-37F7-E640-D7D0-04200C0428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953" y="4482112"/>
            <a:ext cx="4134854" cy="23258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4F5404-DC85-854C-6C08-97C07475A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635" y="110540"/>
            <a:ext cx="4968449" cy="4371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26DB27-EDDF-3C3D-1410-4B8C00C2C8C6}"/>
              </a:ext>
            </a:extLst>
          </p:cNvPr>
          <p:cNvSpPr txBox="1"/>
          <p:nvPr/>
        </p:nvSpPr>
        <p:spPr>
          <a:xfrm>
            <a:off x="5649528" y="6101129"/>
            <a:ext cx="6282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←참고</a:t>
            </a:r>
            <a:r>
              <a:rPr lang="en-US" altLang="ko-KR" dirty="0"/>
              <a:t>: &lt;</a:t>
            </a:r>
            <a:r>
              <a:rPr lang="ko-KR" altLang="en-US" dirty="0" err="1"/>
              <a:t>젤다의</a:t>
            </a:r>
            <a:r>
              <a:rPr lang="ko-KR" altLang="en-US" dirty="0"/>
              <a:t> 전설</a:t>
            </a:r>
            <a:r>
              <a:rPr lang="en-US" altLang="ko-KR" dirty="0"/>
              <a:t>:</a:t>
            </a:r>
            <a:r>
              <a:rPr lang="ko-KR" altLang="en-US" dirty="0"/>
              <a:t>야생의 숨결</a:t>
            </a:r>
            <a:r>
              <a:rPr lang="en-US" altLang="ko-KR" dirty="0"/>
              <a:t>&gt;/&lt;</a:t>
            </a:r>
            <a:r>
              <a:rPr lang="ko-KR" altLang="en-US" dirty="0"/>
              <a:t>왕국의 눈물</a:t>
            </a:r>
            <a:r>
              <a:rPr lang="en-US" altLang="ko-KR" dirty="0"/>
              <a:t>&gt;</a:t>
            </a:r>
            <a:r>
              <a:rPr lang="ko-KR" altLang="en-US" dirty="0"/>
              <a:t>에서는 </a:t>
            </a:r>
            <a:br>
              <a:rPr lang="en-US" altLang="ko-KR" dirty="0"/>
            </a:br>
            <a:r>
              <a:rPr lang="en-US" altLang="ko-KR" dirty="0"/>
              <a:t>          </a:t>
            </a:r>
            <a:r>
              <a:rPr lang="ko-KR" altLang="en-US" dirty="0"/>
              <a:t>앞다리만 처리하고 뒷다리 처리는 </a:t>
            </a:r>
            <a:r>
              <a:rPr lang="ko-KR" altLang="en-US" dirty="0" err="1"/>
              <a:t>생략되어있음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7992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20260731-0114-53.8219767">
            <a:hlinkClick r:id="" action="ppaction://media"/>
            <a:extLst>
              <a:ext uri="{FF2B5EF4-FFF2-40B4-BE49-F238E27FC236}">
                <a16:creationId xmlns:a16="http://schemas.microsoft.com/office/drawing/2014/main" id="{C81D7297-D3E4-97ED-DDB7-90D5DD9AE1A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37767" y="643466"/>
            <a:ext cx="491646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43AB-C00E-6782-EFD4-50B67737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200C98C-B6FE-9B30-5F35-FFA26E9DF596}"/>
              </a:ext>
            </a:extLst>
          </p:cNvPr>
          <p:cNvGrpSpPr/>
          <p:nvPr/>
        </p:nvGrpSpPr>
        <p:grpSpPr>
          <a:xfrm flipH="1">
            <a:off x="0" y="4069388"/>
            <a:ext cx="12192000" cy="2798462"/>
            <a:chOff x="0" y="4069388"/>
            <a:chExt cx="12192000" cy="27984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926B16F-585E-84F5-954E-D04D65244379}"/>
                </a:ext>
              </a:extLst>
            </p:cNvPr>
            <p:cNvSpPr/>
            <p:nvPr/>
          </p:nvSpPr>
          <p:spPr>
            <a:xfrm>
              <a:off x="5167993" y="5412921"/>
              <a:ext cx="7024007" cy="145492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5753519D-8742-755A-0B61-06ABEC55F405}"/>
                </a:ext>
              </a:extLst>
            </p:cNvPr>
            <p:cNvSpPr/>
            <p:nvPr/>
          </p:nvSpPr>
          <p:spPr>
            <a:xfrm>
              <a:off x="0" y="4069388"/>
              <a:ext cx="12192000" cy="2788612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폭발: 8pt 22">
            <a:extLst>
              <a:ext uri="{FF2B5EF4-FFF2-40B4-BE49-F238E27FC236}">
                <a16:creationId xmlns:a16="http://schemas.microsoft.com/office/drawing/2014/main" id="{92A3D67E-08C6-F09D-6BDF-C2212F79326A}"/>
              </a:ext>
            </a:extLst>
          </p:cNvPr>
          <p:cNvSpPr/>
          <p:nvPr/>
        </p:nvSpPr>
        <p:spPr>
          <a:xfrm>
            <a:off x="7396986" y="4760955"/>
            <a:ext cx="489857" cy="489857"/>
          </a:xfrm>
          <a:prstGeom prst="irregularSeal1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DCDFAC-A837-73A3-3CBD-25FA45034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점프 조건 개선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07ABAA-1CF9-3EBC-7CCE-79C4FD07B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문제상황</a:t>
            </a:r>
            <a:r>
              <a:rPr lang="en-US" altLang="ko-KR" dirty="0"/>
              <a:t>: </a:t>
            </a:r>
            <a:r>
              <a:rPr lang="ko-KR" altLang="en-US" dirty="0"/>
              <a:t>비탈면을 점프할 장애물로 오인하는 경우가 많았음</a:t>
            </a:r>
          </a:p>
        </p:txBody>
      </p:sp>
      <p:pic>
        <p:nvPicPr>
          <p:cNvPr id="5" name="내용 개체 틀 11" descr="말 단색으로 채워진">
            <a:extLst>
              <a:ext uri="{FF2B5EF4-FFF2-40B4-BE49-F238E27FC236}">
                <a16:creationId xmlns:a16="http://schemas.microsoft.com/office/drawing/2014/main" id="{A6DBF231-2B95-5C2A-6559-73C93A197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1768" y="3677583"/>
            <a:ext cx="1861653" cy="1861653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FED6020-236F-4239-9B9A-F8A51E63EAA4}"/>
              </a:ext>
            </a:extLst>
          </p:cNvPr>
          <p:cNvCxnSpPr>
            <a:cxnSpLocks/>
          </p:cNvCxnSpPr>
          <p:nvPr/>
        </p:nvCxnSpPr>
        <p:spPr>
          <a:xfrm>
            <a:off x="3112168" y="4982462"/>
            <a:ext cx="4467727" cy="234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25F88AB-6352-7D20-7437-64D8B3EA35D9}"/>
              </a:ext>
            </a:extLst>
          </p:cNvPr>
          <p:cNvCxnSpPr>
            <a:cxnSpLocks/>
          </p:cNvCxnSpPr>
          <p:nvPr/>
        </p:nvCxnSpPr>
        <p:spPr>
          <a:xfrm>
            <a:off x="3112168" y="3834804"/>
            <a:ext cx="4467727" cy="6232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3805BF-7462-3D5A-261C-F6DCC572C713}"/>
              </a:ext>
            </a:extLst>
          </p:cNvPr>
          <p:cNvSpPr txBox="1"/>
          <p:nvPr/>
        </p:nvSpPr>
        <p:spPr>
          <a:xfrm>
            <a:off x="495105" y="3229641"/>
            <a:ext cx="523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정면은 </a:t>
            </a:r>
            <a:r>
              <a:rPr lang="ko-KR" altLang="en-US" dirty="0" err="1"/>
              <a:t>막혀있는데</a:t>
            </a:r>
            <a:r>
              <a:rPr lang="ko-KR" altLang="en-US" dirty="0"/>
              <a:t> 위로는 </a:t>
            </a:r>
            <a:r>
              <a:rPr lang="ko-KR" altLang="en-US" dirty="0" err="1"/>
              <a:t>뚫려있네</a:t>
            </a:r>
            <a:r>
              <a:rPr lang="en-US" altLang="ko-KR" dirty="0"/>
              <a:t>? </a:t>
            </a:r>
            <a:r>
              <a:rPr lang="ko-KR" altLang="en-US" dirty="0" err="1"/>
              <a:t>점프해야지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190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1E02-5648-658B-B33A-2185C3EBA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F6561C1E-78FE-C19F-FC83-9AC07375998E}"/>
              </a:ext>
            </a:extLst>
          </p:cNvPr>
          <p:cNvGrpSpPr/>
          <p:nvPr/>
        </p:nvGrpSpPr>
        <p:grpSpPr>
          <a:xfrm flipH="1">
            <a:off x="0" y="4069388"/>
            <a:ext cx="12192000" cy="2798462"/>
            <a:chOff x="0" y="4069388"/>
            <a:chExt cx="12192000" cy="27984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4E0EC22-92EC-F9FD-0E5C-EC2C5CEAEB00}"/>
                </a:ext>
              </a:extLst>
            </p:cNvPr>
            <p:cNvSpPr/>
            <p:nvPr/>
          </p:nvSpPr>
          <p:spPr>
            <a:xfrm>
              <a:off x="5167993" y="5412921"/>
              <a:ext cx="7024007" cy="145492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0AA75954-068B-C167-9958-62C7DE2C15CD}"/>
                </a:ext>
              </a:extLst>
            </p:cNvPr>
            <p:cNvSpPr/>
            <p:nvPr/>
          </p:nvSpPr>
          <p:spPr>
            <a:xfrm>
              <a:off x="0" y="4069388"/>
              <a:ext cx="12192000" cy="2788612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7555842-E6F2-BEE2-D701-4B4A9645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점프 조건 개선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8A53CEA-9C02-CC98-7B7B-C6DECC5B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추가 </a:t>
            </a:r>
            <a:r>
              <a:rPr lang="en-US" altLang="ko-KR" dirty="0" err="1"/>
              <a:t>raycast</a:t>
            </a:r>
            <a:r>
              <a:rPr lang="ko-KR" altLang="en-US" dirty="0"/>
              <a:t>를 통해 </a:t>
            </a:r>
            <a:r>
              <a:rPr lang="en-US" altLang="ko-KR" dirty="0"/>
              <a:t>3</a:t>
            </a:r>
            <a:r>
              <a:rPr lang="ko-KR" altLang="en-US" dirty="0"/>
              <a:t>개의 점을 사용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개의 점이 </a:t>
            </a:r>
            <a:r>
              <a:rPr lang="en-US" altLang="ko-KR" dirty="0"/>
              <a:t>walkable </a:t>
            </a:r>
            <a:r>
              <a:rPr lang="ko-KR" altLang="en-US" dirty="0"/>
              <a:t>경사 미만이고</a:t>
            </a:r>
            <a:r>
              <a:rPr lang="en-US" altLang="ko-KR" dirty="0"/>
              <a:t>, </a:t>
            </a:r>
            <a:r>
              <a:rPr lang="ko-KR" altLang="en-US" dirty="0"/>
              <a:t>단차가 일정 수준 미만일 경우</a:t>
            </a:r>
            <a:br>
              <a:rPr lang="en-US" altLang="ko-KR" dirty="0"/>
            </a:br>
            <a:r>
              <a:rPr lang="ko-KR" altLang="en-US" dirty="0"/>
              <a:t>경사로로 취급</a:t>
            </a:r>
            <a:r>
              <a:rPr lang="en-US" altLang="ko-KR" dirty="0"/>
              <a:t>, </a:t>
            </a:r>
            <a:r>
              <a:rPr lang="ko-KR" altLang="en-US" dirty="0"/>
              <a:t>점프하지 않음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내용 개체 틀 11" descr="말 단색으로 채워진">
            <a:extLst>
              <a:ext uri="{FF2B5EF4-FFF2-40B4-BE49-F238E27FC236}">
                <a16:creationId xmlns:a16="http://schemas.microsoft.com/office/drawing/2014/main" id="{00986B70-73BD-4AB8-5468-64E9F3D26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1768" y="3677583"/>
            <a:ext cx="1861653" cy="1861653"/>
          </a:xfrm>
          <a:prstGeom prst="rect">
            <a:avLst/>
          </a:prstGeom>
        </p:spPr>
      </p:pic>
      <p:sp>
        <p:nvSpPr>
          <p:cNvPr id="23" name="폭발: 8pt 22">
            <a:extLst>
              <a:ext uri="{FF2B5EF4-FFF2-40B4-BE49-F238E27FC236}">
                <a16:creationId xmlns:a16="http://schemas.microsoft.com/office/drawing/2014/main" id="{1BF80A2D-A985-F1EA-A3A0-025B37867970}"/>
              </a:ext>
            </a:extLst>
          </p:cNvPr>
          <p:cNvSpPr/>
          <p:nvPr/>
        </p:nvSpPr>
        <p:spPr>
          <a:xfrm>
            <a:off x="7521706" y="4945492"/>
            <a:ext cx="287182" cy="345303"/>
          </a:xfrm>
          <a:prstGeom prst="irregularSeal1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39C381-835F-2019-F094-22DCEC7316DB}"/>
              </a:ext>
            </a:extLst>
          </p:cNvPr>
          <p:cNvCxnSpPr>
            <a:cxnSpLocks/>
          </p:cNvCxnSpPr>
          <p:nvPr/>
        </p:nvCxnSpPr>
        <p:spPr>
          <a:xfrm>
            <a:off x="3112168" y="4982462"/>
            <a:ext cx="4467727" cy="2342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3006183-C0D6-3AA4-A02D-FA408FA9B09C}"/>
              </a:ext>
            </a:extLst>
          </p:cNvPr>
          <p:cNvCxnSpPr>
            <a:cxnSpLocks/>
          </p:cNvCxnSpPr>
          <p:nvPr/>
        </p:nvCxnSpPr>
        <p:spPr>
          <a:xfrm>
            <a:off x="6930189" y="4347411"/>
            <a:ext cx="0" cy="91010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53FD4D3-6DF2-4A5B-F52E-5CA3F2FA00FB}"/>
              </a:ext>
            </a:extLst>
          </p:cNvPr>
          <p:cNvCxnSpPr>
            <a:cxnSpLocks/>
          </p:cNvCxnSpPr>
          <p:nvPr/>
        </p:nvCxnSpPr>
        <p:spPr>
          <a:xfrm>
            <a:off x="8277726" y="4001294"/>
            <a:ext cx="0" cy="98753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BA6E332-5A88-B9D1-B3D8-BE90ED37CDA3}"/>
              </a:ext>
            </a:extLst>
          </p:cNvPr>
          <p:cNvSpPr txBox="1"/>
          <p:nvPr/>
        </p:nvSpPr>
        <p:spPr>
          <a:xfrm>
            <a:off x="3341963" y="4536177"/>
            <a:ext cx="2342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전방 장애물 탐지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01D39-DE98-79F4-0678-412DBE087258}"/>
              </a:ext>
            </a:extLst>
          </p:cNvPr>
          <p:cNvSpPr txBox="1"/>
          <p:nvPr/>
        </p:nvSpPr>
        <p:spPr>
          <a:xfrm>
            <a:off x="5346031" y="3568994"/>
            <a:ext cx="4614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추가 </a:t>
            </a:r>
            <a:r>
              <a:rPr lang="en-US" altLang="ko-KR" dirty="0" err="1"/>
              <a:t>raycast</a:t>
            </a:r>
            <a:r>
              <a:rPr lang="ko-KR" altLang="en-US" dirty="0"/>
              <a:t>로 근처의 경사 </a:t>
            </a:r>
            <a:r>
              <a:rPr lang="en-US" altLang="ko-KR" dirty="0"/>
              <a:t>+ </a:t>
            </a:r>
            <a:r>
              <a:rPr lang="ko-KR" altLang="en-US" dirty="0"/>
              <a:t>단차 파악</a:t>
            </a:r>
          </a:p>
        </p:txBody>
      </p:sp>
      <p:sp>
        <p:nvSpPr>
          <p:cNvPr id="14" name="폭발: 8pt 13">
            <a:extLst>
              <a:ext uri="{FF2B5EF4-FFF2-40B4-BE49-F238E27FC236}">
                <a16:creationId xmlns:a16="http://schemas.microsoft.com/office/drawing/2014/main" id="{A1CBB585-82BA-5BDD-7F3F-E6CED686BD64}"/>
              </a:ext>
            </a:extLst>
          </p:cNvPr>
          <p:cNvSpPr/>
          <p:nvPr/>
        </p:nvSpPr>
        <p:spPr>
          <a:xfrm>
            <a:off x="6775749" y="5115733"/>
            <a:ext cx="287182" cy="345303"/>
          </a:xfrm>
          <a:prstGeom prst="irregularSeal1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폭발: 8pt 16">
            <a:extLst>
              <a:ext uri="{FF2B5EF4-FFF2-40B4-BE49-F238E27FC236}">
                <a16:creationId xmlns:a16="http://schemas.microsoft.com/office/drawing/2014/main" id="{01576BBF-FBCA-5DD4-ACA4-31A46822C7D3}"/>
              </a:ext>
            </a:extLst>
          </p:cNvPr>
          <p:cNvSpPr/>
          <p:nvPr/>
        </p:nvSpPr>
        <p:spPr>
          <a:xfrm>
            <a:off x="8182261" y="4772841"/>
            <a:ext cx="287182" cy="345303"/>
          </a:xfrm>
          <a:prstGeom prst="irregularSeal1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54059C7-8604-0BE8-203A-8B3FB10E5A13}"/>
              </a:ext>
            </a:extLst>
          </p:cNvPr>
          <p:cNvCxnSpPr>
            <a:cxnSpLocks/>
          </p:cNvCxnSpPr>
          <p:nvPr/>
        </p:nvCxnSpPr>
        <p:spPr>
          <a:xfrm>
            <a:off x="8903368" y="4945492"/>
            <a:ext cx="0" cy="342892"/>
          </a:xfrm>
          <a:prstGeom prst="straightConnector1">
            <a:avLst/>
          </a:prstGeom>
          <a:ln>
            <a:solidFill>
              <a:srgbClr val="FFFF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DA00F97-7FB5-2A7E-CE7B-C7A9738649F3}"/>
              </a:ext>
            </a:extLst>
          </p:cNvPr>
          <p:cNvCxnSpPr/>
          <p:nvPr/>
        </p:nvCxnSpPr>
        <p:spPr>
          <a:xfrm>
            <a:off x="7868653" y="4945492"/>
            <a:ext cx="172452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44A339D-D508-AC3C-A3B9-83DEFAAE5048}"/>
              </a:ext>
            </a:extLst>
          </p:cNvPr>
          <p:cNvCxnSpPr>
            <a:cxnSpLocks/>
          </p:cNvCxnSpPr>
          <p:nvPr/>
        </p:nvCxnSpPr>
        <p:spPr>
          <a:xfrm>
            <a:off x="6397184" y="5298915"/>
            <a:ext cx="343662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655F355-5791-64C2-B9B1-91768E7036F7}"/>
              </a:ext>
            </a:extLst>
          </p:cNvPr>
          <p:cNvSpPr txBox="1"/>
          <p:nvPr/>
        </p:nvSpPr>
        <p:spPr>
          <a:xfrm>
            <a:off x="8927431" y="4931067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단차 계산</a:t>
            </a:r>
          </a:p>
        </p:txBody>
      </p:sp>
    </p:spTree>
    <p:extLst>
      <p:ext uri="{BB962C8B-B14F-4D97-AF65-F5344CB8AC3E}">
        <p14:creationId xmlns:p14="http://schemas.microsoft.com/office/powerpoint/2010/main" val="283397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분 원형 16">
            <a:extLst>
              <a:ext uri="{FF2B5EF4-FFF2-40B4-BE49-F238E27FC236}">
                <a16:creationId xmlns:a16="http://schemas.microsoft.com/office/drawing/2014/main" id="{34EB2114-4503-F19B-E7D9-CAB10EFC6772}"/>
              </a:ext>
            </a:extLst>
          </p:cNvPr>
          <p:cNvSpPr/>
          <p:nvPr/>
        </p:nvSpPr>
        <p:spPr>
          <a:xfrm>
            <a:off x="2576506" y="2975872"/>
            <a:ext cx="2719403" cy="2719403"/>
          </a:xfrm>
          <a:prstGeom prst="pie">
            <a:avLst>
              <a:gd name="adj1" fmla="val 200796"/>
              <a:gd name="adj2" fmla="val 84855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355D8EA-FC57-6E13-6C23-AA01E201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 센서 개선 </a:t>
            </a:r>
            <a:r>
              <a:rPr lang="en-US" altLang="ko-KR" dirty="0"/>
              <a:t>(</a:t>
            </a:r>
            <a:r>
              <a:rPr lang="ko-KR" altLang="en-US" dirty="0"/>
              <a:t>진행중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B4F82-2221-014F-C2F8-B86596B39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비탈면에 대응할 수 있도록 현재 지면의 기울기</a:t>
            </a:r>
            <a:r>
              <a:rPr lang="en-US" altLang="ko-KR" dirty="0"/>
              <a:t> + Pitch</a:t>
            </a:r>
            <a:r>
              <a:rPr lang="ko-KR" altLang="en-US" dirty="0"/>
              <a:t> </a:t>
            </a:r>
            <a:r>
              <a:rPr lang="en-US" altLang="ko-KR" dirty="0"/>
              <a:t>offset</a:t>
            </a:r>
            <a:r>
              <a:rPr lang="ko-KR" altLang="en-US" dirty="0"/>
              <a:t>을 반영하도록 수정</a:t>
            </a:r>
          </a:p>
        </p:txBody>
      </p:sp>
      <p:pic>
        <p:nvPicPr>
          <p:cNvPr id="5" name="내용 개체 틀 11" descr="말 단색으로 채워진">
            <a:extLst>
              <a:ext uri="{FF2B5EF4-FFF2-40B4-BE49-F238E27FC236}">
                <a16:creationId xmlns:a16="http://schemas.microsoft.com/office/drawing/2014/main" id="{C884C86C-43FD-743C-EC92-9B47F3493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16442">
            <a:off x="2508893" y="3070467"/>
            <a:ext cx="1861653" cy="1861653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E23BCC86-023B-6545-4D73-248850517DA2}"/>
              </a:ext>
            </a:extLst>
          </p:cNvPr>
          <p:cNvGrpSpPr/>
          <p:nvPr/>
        </p:nvGrpSpPr>
        <p:grpSpPr>
          <a:xfrm>
            <a:off x="0" y="4069388"/>
            <a:ext cx="12192000" cy="2798462"/>
            <a:chOff x="0" y="4069388"/>
            <a:chExt cx="12192000" cy="2798462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C572555-28B9-3CD8-91A5-738AF90FBA63}"/>
                </a:ext>
              </a:extLst>
            </p:cNvPr>
            <p:cNvSpPr/>
            <p:nvPr/>
          </p:nvSpPr>
          <p:spPr>
            <a:xfrm>
              <a:off x="5167993" y="5412921"/>
              <a:ext cx="7024007" cy="1454929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각 삼각형 5">
              <a:extLst>
                <a:ext uri="{FF2B5EF4-FFF2-40B4-BE49-F238E27FC236}">
                  <a16:creationId xmlns:a16="http://schemas.microsoft.com/office/drawing/2014/main" id="{CC8C9A44-8612-6463-3FC6-F481C3DBD8AB}"/>
                </a:ext>
              </a:extLst>
            </p:cNvPr>
            <p:cNvSpPr/>
            <p:nvPr/>
          </p:nvSpPr>
          <p:spPr>
            <a:xfrm>
              <a:off x="0" y="4069388"/>
              <a:ext cx="12192000" cy="2788612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6981B6F-A360-B891-A292-222B145CDC35}"/>
              </a:ext>
            </a:extLst>
          </p:cNvPr>
          <p:cNvCxnSpPr>
            <a:cxnSpLocks/>
          </p:cNvCxnSpPr>
          <p:nvPr/>
        </p:nvCxnSpPr>
        <p:spPr>
          <a:xfrm>
            <a:off x="3858818" y="4333113"/>
            <a:ext cx="4370782" cy="1085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5130F9-C877-8B69-A41C-56FEFEA96281}"/>
              </a:ext>
            </a:extLst>
          </p:cNvPr>
          <p:cNvSpPr txBox="1"/>
          <p:nvPr/>
        </p:nvSpPr>
        <p:spPr>
          <a:xfrm>
            <a:off x="8257386" y="4996554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지면 탄젠트만 반영 </a:t>
            </a:r>
            <a:r>
              <a:rPr lang="en-US" altLang="ko-KR" dirty="0"/>
              <a:t>(</a:t>
            </a:r>
            <a:r>
              <a:rPr lang="ko-KR" altLang="en-US" dirty="0" err="1"/>
              <a:t>오탐</a:t>
            </a:r>
            <a:r>
              <a:rPr lang="ko-KR" altLang="en-US" dirty="0"/>
              <a:t> 발생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0775162-0627-9C9B-15D9-F0FF8DAFC685}"/>
              </a:ext>
            </a:extLst>
          </p:cNvPr>
          <p:cNvCxnSpPr>
            <a:cxnSpLocks/>
          </p:cNvCxnSpPr>
          <p:nvPr/>
        </p:nvCxnSpPr>
        <p:spPr>
          <a:xfrm>
            <a:off x="3872524" y="4333113"/>
            <a:ext cx="4299926" cy="1676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EF1239-90E6-6ABC-2052-DD53D84B9703}"/>
              </a:ext>
            </a:extLst>
          </p:cNvPr>
          <p:cNvSpPr txBox="1"/>
          <p:nvPr/>
        </p:nvSpPr>
        <p:spPr>
          <a:xfrm>
            <a:off x="7573729" y="3684864"/>
            <a:ext cx="1900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Pitch offset</a:t>
            </a:r>
            <a:r>
              <a:rPr lang="ko-KR" altLang="en-US" dirty="0"/>
              <a:t> 반영</a:t>
            </a:r>
          </a:p>
        </p:txBody>
      </p:sp>
      <p:sp>
        <p:nvSpPr>
          <p:cNvPr id="23" name="폭발: 8pt 22">
            <a:extLst>
              <a:ext uri="{FF2B5EF4-FFF2-40B4-BE49-F238E27FC236}">
                <a16:creationId xmlns:a16="http://schemas.microsoft.com/office/drawing/2014/main" id="{93D8A377-AFE5-8F0C-115E-FB3623031937}"/>
              </a:ext>
            </a:extLst>
          </p:cNvPr>
          <p:cNvSpPr/>
          <p:nvPr/>
        </p:nvSpPr>
        <p:spPr>
          <a:xfrm>
            <a:off x="7998565" y="5291594"/>
            <a:ext cx="489857" cy="489857"/>
          </a:xfrm>
          <a:prstGeom prst="irregularSeal1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55DEB-9814-DDE7-DCA5-557F74E3A220}"/>
              </a:ext>
            </a:extLst>
          </p:cNvPr>
          <p:cNvSpPr txBox="1"/>
          <p:nvPr/>
        </p:nvSpPr>
        <p:spPr>
          <a:xfrm>
            <a:off x="1444229" y="3244334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 Edge case </a:t>
            </a:r>
            <a:r>
              <a:rPr lang="ko-KR" altLang="en-US" dirty="0"/>
              <a:t>사례</a:t>
            </a:r>
          </a:p>
        </p:txBody>
      </p:sp>
    </p:spTree>
    <p:extLst>
      <p:ext uri="{BB962C8B-B14F-4D97-AF65-F5344CB8AC3E}">
        <p14:creationId xmlns:p14="http://schemas.microsoft.com/office/powerpoint/2010/main" val="3652984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BE5ED-CC78-A0D2-269D-9119E2DB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 센서 개선 </a:t>
            </a:r>
            <a:r>
              <a:rPr lang="en-US" altLang="ko-KR" dirty="0"/>
              <a:t>(</a:t>
            </a:r>
            <a:r>
              <a:rPr lang="ko-KR" altLang="en-US" dirty="0"/>
              <a:t>진행중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DC2B3B76-328C-F9D7-8DB6-38A2512FD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0504" y="1825625"/>
            <a:ext cx="4884992" cy="4351338"/>
          </a:xfrm>
          <a:prstGeom prst="rect">
            <a:avLst/>
          </a:prstGeom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0D4B139-38BD-D5C1-2FE0-C593F72221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비탈면을 옆으로 걸어갈 때 평면을 장애물로 </a:t>
            </a:r>
            <a:r>
              <a:rPr lang="ko-KR" altLang="en-US" dirty="0" err="1"/>
              <a:t>오탐하는</a:t>
            </a:r>
            <a:r>
              <a:rPr lang="ko-KR" altLang="en-US" dirty="0"/>
              <a:t> 경우 발생</a:t>
            </a:r>
          </a:p>
        </p:txBody>
      </p:sp>
    </p:spTree>
    <p:extLst>
      <p:ext uri="{BB962C8B-B14F-4D97-AF65-F5344CB8AC3E}">
        <p14:creationId xmlns:p14="http://schemas.microsoft.com/office/powerpoint/2010/main" val="1154677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5FF71-B1EA-4E24-D03E-9BC101BC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 센서 개선 </a:t>
            </a:r>
            <a:r>
              <a:rPr lang="en-US" altLang="ko-KR" dirty="0"/>
              <a:t>(</a:t>
            </a:r>
            <a:r>
              <a:rPr lang="ko-KR" altLang="en-US" dirty="0"/>
              <a:t>진행중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5FDEC-712D-5DEF-36CF-6430D9878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로보틱스에서의</a:t>
            </a:r>
            <a:r>
              <a:rPr lang="ko-KR" altLang="en-US" dirty="0"/>
              <a:t> 접근법을 차용</a:t>
            </a:r>
            <a:endParaRPr lang="en-US" altLang="ko-KR" dirty="0"/>
          </a:p>
          <a:p>
            <a:r>
              <a:rPr lang="ko-KR" altLang="en-US" dirty="0"/>
              <a:t>일정간격으로 </a:t>
            </a:r>
            <a:r>
              <a:rPr lang="en-US" altLang="ko-KR" dirty="0" err="1"/>
              <a:t>Raycast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각 샘플의 </a:t>
            </a:r>
            <a:r>
              <a:rPr lang="en-US" altLang="ko-KR" dirty="0"/>
              <a:t>normal</a:t>
            </a:r>
            <a:r>
              <a:rPr lang="ko-KR" altLang="en-US" dirty="0"/>
              <a:t>과 이웃한 </a:t>
            </a:r>
            <a:r>
              <a:rPr lang="ko-KR" altLang="en-US" dirty="0" err="1"/>
              <a:t>샘플간의</a:t>
            </a:r>
            <a:r>
              <a:rPr lang="ko-KR" altLang="en-US" dirty="0"/>
              <a:t> 높이 차이를 사용하여 통행 가능 여부 조사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현재 작업 진행중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FE581C9-951E-7977-FB04-AA7F1D8A2E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80342"/>
            <a:ext cx="5181600" cy="304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65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10869</TotalTime>
  <Words>461</Words>
  <Application>Microsoft Office PowerPoint</Application>
  <PresentationFormat>와이드스크린</PresentationFormat>
  <Paragraphs>85</Paragraphs>
  <Slides>18</Slides>
  <Notes>4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D2Coding</vt:lpstr>
      <vt:lpstr>Noto Sans KR DemiLight</vt:lpstr>
      <vt:lpstr>Noto Sans KR Light</vt:lpstr>
      <vt:lpstr>맑은 고딕</vt:lpstr>
      <vt:lpstr>Arial</vt:lpstr>
      <vt:lpstr>Cambria Math</vt:lpstr>
      <vt:lpstr>Office 테마</vt:lpstr>
      <vt:lpstr>5주차 작업 현황 보고</vt:lpstr>
      <vt:lpstr>작업 한 것</vt:lpstr>
      <vt:lpstr>제자리 회전 보강</vt:lpstr>
      <vt:lpstr>PowerPoint 프레젠테이션</vt:lpstr>
      <vt:lpstr>몸통 하단부 판정</vt:lpstr>
      <vt:lpstr>몸통 하단부 판정</vt:lpstr>
      <vt:lpstr>몸통 하단부 판정</vt:lpstr>
      <vt:lpstr>한계</vt:lpstr>
      <vt:lpstr>몸통 기울기 구현 </vt:lpstr>
      <vt:lpstr>몸통 기울기 구현</vt:lpstr>
      <vt:lpstr>접지 판정 개선</vt:lpstr>
      <vt:lpstr>접지 판정 개선</vt:lpstr>
      <vt:lpstr>PowerPoint 프레젠테이션</vt:lpstr>
      <vt:lpstr>점프 조건 개선</vt:lpstr>
      <vt:lpstr>점프 조건 개선</vt:lpstr>
      <vt:lpstr>장애물 센서 개선 (진행중)</vt:lpstr>
      <vt:lpstr>장애물 센서 개선 (진행중)</vt:lpstr>
      <vt:lpstr>장애물 센서 개선 (진행중)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김태현</dc:creator>
  <cp:lastModifiedBy>김태현</cp:lastModifiedBy>
  <cp:revision>70</cp:revision>
  <dcterms:created xsi:type="dcterms:W3CDTF">2026-07-02T06:32:55Z</dcterms:created>
  <dcterms:modified xsi:type="dcterms:W3CDTF">2026-07-31T07:48:06Z</dcterms:modified>
</cp:coreProperties>
</file>