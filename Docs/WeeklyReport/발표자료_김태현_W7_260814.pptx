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org&amp;utm_campaign=parser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89" r:id="rId4"/>
    <p:sldId id="273" r:id="rId5"/>
    <p:sldId id="294" r:id="rId6"/>
    <p:sldId id="272" r:id="rId7"/>
    <p:sldId id="293" r:id="rId8"/>
    <p:sldId id="276" r:id="rId9"/>
    <p:sldId id="274" r:id="rId10"/>
    <p:sldId id="275" r:id="rId11"/>
    <p:sldId id="277" r:id="rId12"/>
    <p:sldId id="286" r:id="rId13"/>
    <p:sldId id="287" r:id="rId14"/>
    <p:sldId id="288" r:id="rId15"/>
    <p:sldId id="278" r:id="rId16"/>
    <p:sldId id="279" r:id="rId17"/>
    <p:sldId id="284" r:id="rId18"/>
    <p:sldId id="290" r:id="rId19"/>
    <p:sldId id="298" r:id="rId20"/>
    <p:sldId id="280" r:id="rId21"/>
    <p:sldId id="282" r:id="rId22"/>
    <p:sldId id="283" r:id="rId23"/>
    <p:sldId id="295" r:id="rId24"/>
    <p:sldId id="291" r:id="rId25"/>
    <p:sldId id="292" r:id="rId26"/>
    <p:sldId id="296" r:id="rId27"/>
    <p:sldId id="297" r:id="rId28"/>
    <p:sldId id="271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80350E"/>
    <a:srgbClr val="FF8989"/>
    <a:srgbClr val="F9FF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392" autoAdjust="0"/>
  </p:normalViewPr>
  <p:slideViewPr>
    <p:cSldViewPr snapToGrid="0">
      <p:cViewPr varScale="1">
        <p:scale>
          <a:sx n="98" d="100"/>
          <a:sy n="98" d="100"/>
        </p:scale>
        <p:origin x="84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E0652-DD3F-4B77-AAC8-4A9F7E6B4C9A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A5CE9-B369-4DCA-B391-96CB8A8C7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6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A5CE9-B369-4DCA-B391-96CB8A8C7F3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124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A5CE9-B369-4DCA-B391-96CB8A8C7F3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974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A5CE9-B369-4DCA-B391-96CB8A8C7F3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424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A5CE9-B369-4DCA-B391-96CB8A8C7F3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11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A5CE9-B369-4DCA-B391-96CB8A8C7F3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331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A5CE9-B369-4DCA-B391-96CB8A8C7F3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484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A5CE9-B369-4DCA-B391-96CB8A8C7F3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575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A5CE9-B369-4DCA-B391-96CB8A8C7F3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348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A5CE9-B369-4DCA-B391-96CB8A8C7F3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121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A5CE9-B369-4DCA-B391-96CB8A8C7F3D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918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A5CE9-B369-4DCA-B391-96CB8A8C7F3D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784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A5CE9-B369-4DCA-B391-96CB8A8C7F3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700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D8888-CBA0-144C-CDBA-6295EFF57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4826A7-2135-4121-6517-06CD60A44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7A6D9D-628D-64B1-5E69-F63F3FEA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4DCD18-A23E-B987-55C8-911EB43F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0FF76F-E804-3E33-7A04-1109977F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57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BE69D-8D97-1C4A-FCC0-E54AB2C02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05444F-BE5C-F1C4-7DE6-242ADA509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D5C19D-3BD6-75C9-BEBF-03915F1AC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4BC6C4-9E25-92A9-799A-8227B42D1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230254-D903-AFE0-EE65-764AF7B1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91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7A20-8EDD-B238-33B7-3F349DF1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F9FD23-677F-95B4-EC97-D65B14F78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48BBF6-A937-CDED-CCAB-24FAF8C1A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12FE2-90C4-FDB4-BD27-69878A20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6DF7A2-0EC6-9B6D-C961-A44F32FE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751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0B358-8A1C-2553-5AA7-888DFB01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56FAD-7C29-8C37-901D-682A0F7A57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A41119-7A3E-48BB-2FF3-5C603F789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E72136-1253-7155-52FD-1601C8D83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9503CB-F848-3EB3-0EC9-A584497B2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BF1E92-B4F4-A1BA-0A00-486C5C59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499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AE711-804F-3CF8-8391-6EC0F1483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0A439C-5B47-EFAE-5B81-09D561832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8BEE18-A99C-BFD0-FF4B-92D0F3FB0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308A33-C473-C137-3D28-D60CA87D6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17362C7-CFA9-DFFD-BECB-B043A12137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DCDC385-6CCC-80B3-9F51-94AE09A09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3C117E-3855-21E5-9DEE-0CC25D273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9C6A2E5-036F-4701-0FCC-B7A30E48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56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95F14-8F17-AE7F-3C6E-11A507482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FCC027-1BDA-826F-65C6-29C9FB9AC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4771BE-19F1-EC23-6F67-2DCFDB3EA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B00286-DC1F-50AF-32AB-9FE0EE4D4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981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그림 하나 크게 보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7FE80-5F02-64A4-5B46-6584C3F88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E34D5E-D4D6-B0CB-8AAF-A1198D79D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0BB7DB-908D-7BED-C6DA-1B6501D92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40793F-502F-5D2F-156F-10EE62596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F55913-E4AF-2BFA-FD8B-0479186901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61614" y="365125"/>
            <a:ext cx="6393774" cy="635635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A24BF87-C6DB-EA97-0432-5AD7CE662B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900777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26218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04B17B-4E78-F5D4-6127-F0A80ACA4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7B9E72-8476-F445-6E8E-CB48E42B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B2AED9-C0D8-3798-A6D9-9CAAEC4B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852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43CB5-E836-4FBD-A575-EF899CAE7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E59425-A64A-A13C-573F-7BB0CE32B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189508-BA86-1123-114A-CAB599E5C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402AF1-B709-431E-A232-9D2D1502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A7B85D-4324-DFA0-4177-F28219C1B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12AFC5-B43F-F8C5-1158-4CD57FFA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514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BF6EF-1990-FE0F-9D65-5421457C6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F2E12D-D5A6-B565-A89C-5349F92D8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8400D7-5EF6-56C1-6324-E515CF523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0C0F4F-FB89-4B79-8842-06DBE422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67FDB2-61E2-B7A3-8F6E-C7D098AC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2076F6-43A4-C093-4A8A-01457B2A4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27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D8BFFC-B1AC-66BA-40F9-1639E7A8D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0CEB09-9883-6F57-646C-268DF2152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B0947B-F8CA-BBA4-CC8A-B10236B4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39F7A8-57E6-E94C-E0A4-55A51AF1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718E3E-7643-E2A4-BDA5-E92BB65FD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67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CA2A60-CC10-1A5E-D29E-0A3CE1B9CE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011DF0-059B-2AAF-C532-A229C1F51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9E59C5-7B80-5EB7-5AC0-FD387770F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02017B-2489-28CF-478B-04F497496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F7EB1B-44D1-6665-69B1-94491141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71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290BCC-C26A-92B8-B35E-9C869FEE0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4931CD-D02C-C2B8-209C-A0E44F9FF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034173-B8B1-303D-0374-A95A5F695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D6682-63CE-4B0C-803D-BD262BEC5488}" type="datetimeFigureOut">
              <a:rPr lang="ko-KR" altLang="en-US" smtClean="0"/>
              <a:t>2026-08-14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B0CC5E-2607-B86D-47B6-5842CEDC3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5AFB7D-B1DC-15CC-D256-ED66183A9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46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 DemiLight" panose="020B0200000000000000" pitchFamily="50" charset="-127"/>
          <a:ea typeface="Noto Sans KR DemiLight" panose="020B0200000000000000" pitchFamily="50" charset="-127"/>
          <a:cs typeface="ADLaM Display" panose="020F0502020204030204" pitchFamily="2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 Light" panose="020B0200000000000000" pitchFamily="50" charset="-127"/>
          <a:ea typeface="Noto Sans KR Light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 Light" panose="020B0200000000000000" pitchFamily="50" charset="-127"/>
          <a:ea typeface="Noto Sans KR Light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 Light" panose="020B0200000000000000" pitchFamily="50" charset="-127"/>
          <a:ea typeface="Noto Sans KR Light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 Light" panose="020B0200000000000000" pitchFamily="50" charset="-127"/>
          <a:ea typeface="Noto Sans KR Light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 Light" panose="020B0200000000000000" pitchFamily="50" charset="-127"/>
          <a:ea typeface="Noto Sans KR Light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org&amp;utm_campaign=parser&amp;utm_content=thumbnai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A96AA-B6D7-B5AB-26C9-A3EBC486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7</a:t>
            </a:r>
            <a:r>
              <a:rPr lang="ko-KR" altLang="en-US" dirty="0"/>
              <a:t>주차 작업 현황 보고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9E4911-65E1-31AA-A480-3B1C7ADEA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26.08.10 ~ 26.08.14</a:t>
            </a:r>
          </a:p>
          <a:p>
            <a:r>
              <a:rPr lang="ko-KR" altLang="en-US" dirty="0"/>
              <a:t>김태현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93452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4EED1CDA-692D-AC99-0033-EDE444A8D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 한 것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F0CF37D-BBE6-EF10-38C1-B19981BE8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네비게이션 최적화</a:t>
            </a:r>
            <a:endParaRPr lang="en-US" altLang="ko-KR" dirty="0"/>
          </a:p>
          <a:p>
            <a:pPr lvl="1"/>
            <a:r>
              <a:rPr lang="ko-KR" altLang="en-US" dirty="0" err="1"/>
              <a:t>청크</a:t>
            </a:r>
            <a:r>
              <a:rPr lang="ko-KR" altLang="en-US" dirty="0"/>
              <a:t> 단위 도입</a:t>
            </a:r>
            <a:endParaRPr lang="en-US" altLang="ko-KR" dirty="0"/>
          </a:p>
          <a:p>
            <a:pPr lvl="1"/>
            <a:r>
              <a:rPr lang="ko-KR" altLang="en-US" dirty="0" err="1"/>
              <a:t>복셀</a:t>
            </a:r>
            <a:r>
              <a:rPr lang="ko-KR" altLang="en-US" dirty="0"/>
              <a:t> 데이터 압축</a:t>
            </a:r>
            <a:r>
              <a:rPr lang="en-US" altLang="ko-KR" dirty="0"/>
              <a:t>: Height map</a:t>
            </a:r>
            <a:r>
              <a:rPr lang="ko-KR" altLang="en-US" dirty="0"/>
              <a:t>과 침식 필터</a:t>
            </a:r>
            <a:endParaRPr lang="en-US" altLang="ko-KR" dirty="0"/>
          </a:p>
          <a:p>
            <a:pPr lvl="1"/>
            <a:r>
              <a:rPr lang="en-US" altLang="ko-KR" dirty="0"/>
              <a:t>Broad phase </a:t>
            </a:r>
            <a:r>
              <a:rPr lang="ko-KR" altLang="en-US" dirty="0"/>
              <a:t>진행을 통한 네비게이션 데이터 </a:t>
            </a:r>
            <a:r>
              <a:rPr lang="en-US" altLang="ko-KR" dirty="0"/>
              <a:t>Bake</a:t>
            </a:r>
            <a:r>
              <a:rPr lang="ko-KR" altLang="en-US" dirty="0"/>
              <a:t> 시간 감소</a:t>
            </a:r>
            <a:endParaRPr lang="en-US" altLang="ko-KR" dirty="0"/>
          </a:p>
          <a:p>
            <a:r>
              <a:rPr lang="ko-KR" altLang="en-US" dirty="0"/>
              <a:t>경로 평탄화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4419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045697-655B-8C31-4AAF-B10F3A437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최적화 기준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6894E8-B4B0-CF68-C5DA-CDA65AFB3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레퍼런스로 삼고 있는 </a:t>
            </a:r>
            <a:r>
              <a:rPr lang="en-US" altLang="ko-KR" dirty="0"/>
              <a:t>&lt;</a:t>
            </a:r>
            <a:r>
              <a:rPr lang="ko-KR" altLang="en-US" dirty="0"/>
              <a:t>야생의 숨결</a:t>
            </a:r>
            <a:r>
              <a:rPr lang="en-US" altLang="ko-KR" dirty="0"/>
              <a:t>&gt;/&lt;</a:t>
            </a:r>
            <a:r>
              <a:rPr lang="ko-KR" altLang="en-US" dirty="0"/>
              <a:t>왕국의 눈물</a:t>
            </a:r>
            <a:r>
              <a:rPr lang="en-US" altLang="ko-KR" dirty="0"/>
              <a:t>&gt;</a:t>
            </a:r>
            <a:r>
              <a:rPr lang="ko-KR" altLang="en-US" dirty="0"/>
              <a:t>을 기준으로 사용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네비게이션에 사용할 용량 예산은 </a:t>
            </a:r>
            <a:r>
              <a:rPr lang="en-US" altLang="ko-KR" dirty="0"/>
              <a:t>10MB</a:t>
            </a:r>
            <a:r>
              <a:rPr lang="ko-KR" altLang="en-US" dirty="0"/>
              <a:t>로 책정</a:t>
            </a:r>
            <a:endParaRPr lang="en-US" altLang="ko-KR" dirty="0"/>
          </a:p>
          <a:p>
            <a:pPr lvl="1"/>
            <a:r>
              <a:rPr lang="en-US" altLang="ko-KR" dirty="0"/>
              <a:t>Nintendo Switch</a:t>
            </a:r>
            <a:r>
              <a:rPr lang="ko-KR" altLang="en-US" dirty="0"/>
              <a:t>의 </a:t>
            </a:r>
            <a:r>
              <a:rPr lang="en-US" altLang="ko-KR" dirty="0"/>
              <a:t>4GB RAM </a:t>
            </a:r>
            <a:r>
              <a:rPr lang="ko-KR" altLang="en-US" dirty="0"/>
              <a:t>용량을</a:t>
            </a:r>
            <a:r>
              <a:rPr lang="en-US" altLang="ko-KR" dirty="0"/>
              <a:t> OS,</a:t>
            </a:r>
            <a:r>
              <a:rPr lang="ko-KR" altLang="en-US" dirty="0"/>
              <a:t> </a:t>
            </a:r>
            <a:r>
              <a:rPr lang="en-US" altLang="ko-KR" dirty="0"/>
              <a:t>GPU </a:t>
            </a:r>
            <a:r>
              <a:rPr lang="ko-KR" altLang="en-US" dirty="0"/>
              <a:t>등과 나눠 쓰는 점을 고려</a:t>
            </a:r>
            <a:endParaRPr lang="en-US" altLang="ko-KR" dirty="0"/>
          </a:p>
          <a:p>
            <a:r>
              <a:rPr lang="ko-KR" altLang="en-US" dirty="0" err="1"/>
              <a:t>길찾기는</a:t>
            </a:r>
            <a:r>
              <a:rPr lang="ko-KR" altLang="en-US" dirty="0"/>
              <a:t> 플레이어 주변에서만 수행</a:t>
            </a:r>
            <a:endParaRPr lang="en-US" altLang="ko-KR" dirty="0"/>
          </a:p>
          <a:p>
            <a:pPr lvl="1"/>
            <a:r>
              <a:rPr lang="ko-KR" altLang="en-US" dirty="0"/>
              <a:t>말과 몬스터 등은</a:t>
            </a:r>
            <a:r>
              <a:rPr lang="en-US" altLang="ko-KR" dirty="0"/>
              <a:t> </a:t>
            </a:r>
            <a:r>
              <a:rPr lang="ko-KR" altLang="en-US" dirty="0"/>
              <a:t>플레이어 근처에서만 반응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60079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6B19E-9495-956B-92A9-2A89D8ACE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레퍼런스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D22FDE-E5CE-9BE8-7A00-4D40F0DA4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왕국의 눈물</a:t>
            </a:r>
            <a:r>
              <a:rPr lang="en-US" altLang="ko-KR" dirty="0"/>
              <a:t>&gt;</a:t>
            </a:r>
            <a:r>
              <a:rPr lang="ko-KR" altLang="en-US" dirty="0"/>
              <a:t>에서 테스트해보니 같은 위치에서 휘파람을 불어도 말이 올 때가 있고 안 올 때가 있었음</a:t>
            </a:r>
            <a:endParaRPr lang="en-US" altLang="ko-KR" dirty="0"/>
          </a:p>
          <a:p>
            <a:pPr lvl="1"/>
            <a:r>
              <a:rPr lang="ko-KR" altLang="en-US" dirty="0"/>
              <a:t>말이 반응하는 거리가 </a:t>
            </a:r>
            <a:r>
              <a:rPr lang="en-US" altLang="ko-KR" dirty="0"/>
              <a:t>50m</a:t>
            </a:r>
            <a:r>
              <a:rPr lang="ko-KR" altLang="en-US" dirty="0"/>
              <a:t> 이상 </a:t>
            </a:r>
            <a:r>
              <a:rPr lang="ko-KR" altLang="en-US" dirty="0" err="1"/>
              <a:t>차이나기도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F62D6AD-D042-5195-56A6-0E8B08052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6959"/>
          <a:stretch>
            <a:fillRect/>
          </a:stretch>
        </p:blipFill>
        <p:spPr>
          <a:xfrm>
            <a:off x="6399119" y="3220452"/>
            <a:ext cx="4954681" cy="295651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194E4D0-6974-72EB-B00E-AD4A0D2102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6959"/>
          <a:stretch>
            <a:fillRect/>
          </a:stretch>
        </p:blipFill>
        <p:spPr>
          <a:xfrm>
            <a:off x="838200" y="3220451"/>
            <a:ext cx="4954682" cy="29565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9D0951-C126-D57B-B0C9-A010315EB028}"/>
              </a:ext>
            </a:extLst>
          </p:cNvPr>
          <p:cNvSpPr txBox="1"/>
          <p:nvPr/>
        </p:nvSpPr>
        <p:spPr>
          <a:xfrm>
            <a:off x="1097626" y="6180625"/>
            <a:ext cx="4435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미니맵에</a:t>
            </a:r>
            <a:r>
              <a:rPr lang="ko-KR" altLang="en-US" dirty="0"/>
              <a:t> 표시되는 거리면 확실하게 반응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 err="1"/>
              <a:t>미니맵</a:t>
            </a:r>
            <a:r>
              <a:rPr lang="ko-KR" altLang="en-US" dirty="0"/>
              <a:t> 반경은 약 </a:t>
            </a:r>
            <a:r>
              <a:rPr lang="en-US" altLang="ko-KR" dirty="0"/>
              <a:t>100m </a:t>
            </a:r>
            <a:r>
              <a:rPr lang="ko-KR" altLang="en-US" dirty="0"/>
              <a:t>내외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3035E1-55CB-01B9-0A02-AC047241CCF6}"/>
              </a:ext>
            </a:extLst>
          </p:cNvPr>
          <p:cNvSpPr txBox="1"/>
          <p:nvPr/>
        </p:nvSpPr>
        <p:spPr>
          <a:xfrm>
            <a:off x="6156002" y="6308209"/>
            <a:ext cx="5440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미니맵에</a:t>
            </a:r>
            <a:r>
              <a:rPr lang="ko-KR" altLang="en-US" dirty="0"/>
              <a:t> 표시되지 않는 거리에선 그때그때 달라짐</a:t>
            </a:r>
          </a:p>
        </p:txBody>
      </p:sp>
    </p:spTree>
    <p:extLst>
      <p:ext uri="{BB962C8B-B14F-4D97-AF65-F5344CB8AC3E}">
        <p14:creationId xmlns:p14="http://schemas.microsoft.com/office/powerpoint/2010/main" val="913403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38B90E-2E1B-1EA6-3BB5-17907E8D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레퍼런스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56B8A6-712D-0ABA-4252-424DA2E7A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말에게 가까이 갔다 멀어진 경우 비교적 먼 거리에서도 휘파람에 반응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 err="1"/>
              <a:t>청크</a:t>
            </a:r>
            <a:r>
              <a:rPr lang="ko-KR" altLang="en-US" dirty="0"/>
              <a:t> 기반 네비게이션 데이터 스트리밍과 </a:t>
            </a:r>
            <a:r>
              <a:rPr lang="en-US" altLang="ko-KR" dirty="0"/>
              <a:t>Budget(</a:t>
            </a:r>
            <a:r>
              <a:rPr lang="ko-KR" altLang="en-US" dirty="0"/>
              <a:t>예산</a:t>
            </a:r>
            <a:r>
              <a:rPr lang="en-US" altLang="ko-KR" dirty="0"/>
              <a:t>) </a:t>
            </a:r>
            <a:r>
              <a:rPr lang="ko-KR" altLang="en-US" dirty="0"/>
              <a:t>기반 </a:t>
            </a:r>
            <a:br>
              <a:rPr lang="en-US" altLang="ko-KR" dirty="0"/>
            </a:br>
            <a:r>
              <a:rPr lang="ko-KR" altLang="en-US" dirty="0" err="1"/>
              <a:t>언로드를</a:t>
            </a:r>
            <a:r>
              <a:rPr lang="ko-KR" altLang="en-US" dirty="0"/>
              <a:t> 사용하는 것으로 추정</a:t>
            </a:r>
            <a:endParaRPr lang="en-US" altLang="ko-KR" dirty="0"/>
          </a:p>
          <a:p>
            <a:pPr lvl="1"/>
            <a:r>
              <a:rPr lang="ko-KR" altLang="en-US" dirty="0"/>
              <a:t>애초에 오픈 월드 게임이므로 레벨 스트리밍과 함께 적용되어 있을 확률이 </a:t>
            </a:r>
            <a:br>
              <a:rPr lang="en-US" altLang="ko-KR" dirty="0"/>
            </a:br>
            <a:r>
              <a:rPr lang="ko-KR" altLang="en-US" dirty="0"/>
              <a:t>매우 높음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901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6FB121-E5C0-3024-7138-41E41DE27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최적화에 사용한 전제 조건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E57F36-D85F-0C7C-8F4A-3D4C1F037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ea"/>
              <a:buAutoNum type="circleNumDbPlain"/>
            </a:pPr>
            <a:r>
              <a:rPr lang="ko-KR" altLang="en-US" dirty="0" err="1"/>
              <a:t>복셀</a:t>
            </a:r>
            <a:r>
              <a:rPr lang="ko-KR" altLang="en-US" dirty="0"/>
              <a:t> 크기는 </a:t>
            </a:r>
            <a:r>
              <a:rPr lang="en-US" altLang="ko-KR" dirty="0"/>
              <a:t>0.5m * 0.5m * 0.5m</a:t>
            </a:r>
          </a:p>
          <a:p>
            <a:pPr marL="514350" indent="-514350">
              <a:buFont typeface="+mj-ea"/>
              <a:buAutoNum type="circleNumDbPlain"/>
            </a:pPr>
            <a:endParaRPr lang="en-US" altLang="ko-KR" dirty="0"/>
          </a:p>
          <a:p>
            <a:pPr marL="514350" indent="-514350">
              <a:buFont typeface="+mj-ea"/>
              <a:buAutoNum type="circleNumDbPlain"/>
            </a:pPr>
            <a:r>
              <a:rPr lang="ko-KR" altLang="en-US" dirty="0"/>
              <a:t>벽이나 낭떠러지로부터 </a:t>
            </a:r>
            <a:r>
              <a:rPr lang="en-US" altLang="ko-KR" dirty="0"/>
              <a:t>1m</a:t>
            </a:r>
            <a:r>
              <a:rPr lang="ko-KR" altLang="en-US" dirty="0"/>
              <a:t>이내의 영역은 경로로 선정되지 않음</a:t>
            </a:r>
            <a:endParaRPr lang="en-US" altLang="ko-KR" dirty="0"/>
          </a:p>
          <a:p>
            <a:pPr lvl="1"/>
            <a:r>
              <a:rPr lang="en-US" altLang="ko-KR" dirty="0"/>
              <a:t>Agent Radius </a:t>
            </a:r>
            <a:r>
              <a:rPr lang="ko-KR" altLang="en-US" dirty="0"/>
              <a:t>개념</a:t>
            </a:r>
            <a:endParaRPr lang="en-US" altLang="ko-KR" dirty="0"/>
          </a:p>
          <a:p>
            <a:pPr lvl="1"/>
            <a:r>
              <a:rPr lang="ko-KR" altLang="en-US" dirty="0"/>
              <a:t>참고</a:t>
            </a:r>
            <a:r>
              <a:rPr lang="en-US" altLang="ko-KR" dirty="0"/>
              <a:t>: </a:t>
            </a:r>
            <a:r>
              <a:rPr lang="ko-KR" altLang="en-US" dirty="0"/>
              <a:t>말 메시의 앞뒤 길이가 약 </a:t>
            </a:r>
            <a:r>
              <a:rPr lang="en-US" altLang="ko-KR" dirty="0"/>
              <a:t>2.4m</a:t>
            </a:r>
          </a:p>
          <a:p>
            <a:pPr lvl="1"/>
            <a:endParaRPr lang="en-US" altLang="ko-KR" dirty="0"/>
          </a:p>
          <a:p>
            <a:pPr marL="514350" indent="-514350">
              <a:buFont typeface="+mj-ea"/>
              <a:buAutoNum type="circleNumDbPlain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19373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B05018-68FD-8E3A-5D30-3C38B1F8E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Agent Radius</a:t>
            </a:r>
            <a:r>
              <a:rPr lang="ko-KR" altLang="en-US" dirty="0"/>
              <a:t>가 너무 크지 않나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077B31-13D1-78E7-2C02-141C6C204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몬스터는 생각보다 크다</a:t>
            </a:r>
            <a:endParaRPr lang="en-US" altLang="ko-KR" dirty="0"/>
          </a:p>
          <a:p>
            <a:r>
              <a:rPr lang="ko-KR" altLang="en-US" dirty="0"/>
              <a:t>따라서 말과 같은 크기의 </a:t>
            </a:r>
            <a:r>
              <a:rPr lang="en-US" altLang="ko-KR" dirty="0"/>
              <a:t>Agent Radius</a:t>
            </a:r>
            <a:r>
              <a:rPr lang="ko-KR" altLang="en-US" dirty="0"/>
              <a:t>를 </a:t>
            </a:r>
            <a:br>
              <a:rPr lang="en-US" altLang="ko-KR" dirty="0"/>
            </a:br>
            <a:r>
              <a:rPr lang="ko-KR" altLang="en-US" dirty="0"/>
              <a:t>사용해도 무방하다고 판단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63A34B-13AE-E90C-796B-FCF7DE1DB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9" t="20145" r="28333" b="23242"/>
          <a:stretch>
            <a:fillRect/>
          </a:stretch>
        </p:blipFill>
        <p:spPr>
          <a:xfrm>
            <a:off x="8388009" y="1317173"/>
            <a:ext cx="3803991" cy="27766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0E180-B563-CBCC-E27A-839147B454BF}"/>
              </a:ext>
            </a:extLst>
          </p:cNvPr>
          <p:cNvSpPr txBox="1"/>
          <p:nvPr/>
        </p:nvSpPr>
        <p:spPr>
          <a:xfrm>
            <a:off x="6128546" y="6093878"/>
            <a:ext cx="4993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걷는 중에는 팔을 벌려서 지름이 커짐</a:t>
            </a:r>
            <a:endParaRPr lang="en-US" altLang="ko-KR" dirty="0"/>
          </a:p>
          <a:p>
            <a:pPr algn="ctr"/>
            <a:r>
              <a:rPr lang="ko-KR" altLang="en-US" dirty="0"/>
              <a:t>크게 벌린 팔 기준으로 벽과 겹치지 않는 모습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92568CA-3170-9F21-2D03-FA22D00EAC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44" b="12960"/>
          <a:stretch>
            <a:fillRect/>
          </a:stretch>
        </p:blipFill>
        <p:spPr>
          <a:xfrm>
            <a:off x="1711046" y="3320360"/>
            <a:ext cx="3803991" cy="27422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EFBB72-FDE9-FD34-9CF2-B37C2B754916}"/>
              </a:ext>
            </a:extLst>
          </p:cNvPr>
          <p:cNvSpPr txBox="1"/>
          <p:nvPr/>
        </p:nvSpPr>
        <p:spPr>
          <a:xfrm>
            <a:off x="1111603" y="6123543"/>
            <a:ext cx="4666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팔을 오므리면 말보다 </a:t>
            </a:r>
            <a:r>
              <a:rPr lang="ko-KR" altLang="en-US" dirty="0" err="1"/>
              <a:t>작아보이기도</a:t>
            </a:r>
            <a:r>
              <a:rPr lang="ko-KR" altLang="en-US" dirty="0"/>
              <a:t> 하지만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1D5DCC3-4A9D-2EB7-BCEC-CDC354F48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111" y="4241885"/>
            <a:ext cx="3658111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01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DA79F-FFA3-D932-8C43-9E8B51D69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최적화에 사용한 전제 조건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2390EF-AC60-15F4-6BDC-9723A8DB1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ea"/>
              <a:buAutoNum type="circleNumDbPlain" startAt="3"/>
            </a:pPr>
            <a:r>
              <a:rPr lang="ko-KR" altLang="en-US" dirty="0"/>
              <a:t>모든 통로는 폭이 </a:t>
            </a:r>
            <a:r>
              <a:rPr lang="en-US" altLang="ko-KR" dirty="0"/>
              <a:t>2.85m </a:t>
            </a:r>
            <a:r>
              <a:rPr lang="ko-KR" altLang="en-US" dirty="0"/>
              <a:t>이상</a:t>
            </a:r>
            <a:endParaRPr lang="en-US" altLang="ko-KR" dirty="0"/>
          </a:p>
          <a:p>
            <a:pPr lvl="1"/>
            <a:r>
              <a:rPr lang="ko-KR" altLang="en-US" dirty="0"/>
              <a:t>한 칸이 </a:t>
            </a:r>
            <a:r>
              <a:rPr lang="en-US" altLang="ko-KR" dirty="0"/>
              <a:t>0.5m</a:t>
            </a:r>
            <a:r>
              <a:rPr lang="ko-KR" altLang="en-US" dirty="0"/>
              <a:t>인 </a:t>
            </a:r>
            <a:r>
              <a:rPr lang="en-US" altLang="ko-KR" dirty="0"/>
              <a:t>2</a:t>
            </a:r>
            <a:r>
              <a:rPr lang="ko-KR" altLang="en-US" dirty="0"/>
              <a:t>차원 그리드 </a:t>
            </a:r>
            <a:r>
              <a:rPr lang="en-US" altLang="ko-KR" dirty="0"/>
              <a:t>4</a:t>
            </a:r>
            <a:r>
              <a:rPr lang="ko-KR" altLang="en-US" dirty="0"/>
              <a:t>칸의 대각선 길이 ≒</a:t>
            </a:r>
            <a:r>
              <a:rPr lang="en-US" altLang="ko-KR" dirty="0"/>
              <a:t> 2.83m</a:t>
            </a:r>
          </a:p>
          <a:p>
            <a:pPr lvl="1"/>
            <a:r>
              <a:rPr lang="ko-KR" altLang="en-US" dirty="0"/>
              <a:t>외나무다리</a:t>
            </a:r>
            <a:r>
              <a:rPr lang="en-US" altLang="ko-KR" dirty="0"/>
              <a:t>, </a:t>
            </a:r>
            <a:r>
              <a:rPr lang="ko-KR" altLang="en-US" dirty="0"/>
              <a:t>좁은 문</a:t>
            </a:r>
            <a:r>
              <a:rPr lang="en-US" altLang="ko-KR" dirty="0"/>
              <a:t>, </a:t>
            </a:r>
            <a:r>
              <a:rPr lang="ko-KR" altLang="en-US" dirty="0"/>
              <a:t>골목길 등은 경로 탐색 지원하지 않음</a:t>
            </a:r>
            <a:endParaRPr lang="en-US" altLang="ko-KR" dirty="0"/>
          </a:p>
          <a:p>
            <a:pPr marL="514350" indent="-514350">
              <a:buFont typeface="+mj-ea"/>
              <a:buAutoNum type="circleNumDbPlain" startAt="3"/>
            </a:pPr>
            <a:endParaRPr lang="en-US" altLang="ko-KR" dirty="0"/>
          </a:p>
          <a:p>
            <a:pPr marL="514350" indent="-514350">
              <a:buFont typeface="+mj-ea"/>
              <a:buAutoNum type="circleNumDbPlain" startAt="3"/>
            </a:pPr>
            <a:r>
              <a:rPr lang="ko-KR" altLang="en-US" dirty="0"/>
              <a:t>지나다닐 수 있는 지형은 모두 위로 </a:t>
            </a:r>
            <a:r>
              <a:rPr lang="en-US" altLang="ko-KR" dirty="0"/>
              <a:t>5m </a:t>
            </a:r>
            <a:r>
              <a:rPr lang="ko-KR" altLang="en-US" dirty="0"/>
              <a:t>이상의 빈 공간이 보장됨</a:t>
            </a:r>
            <a:endParaRPr lang="en-US" altLang="ko-KR" dirty="0"/>
          </a:p>
          <a:p>
            <a:pPr lvl="1"/>
            <a:r>
              <a:rPr lang="ko-KR" altLang="en-US" dirty="0"/>
              <a:t>말 탑승한 상태에서의 키 </a:t>
            </a:r>
            <a:r>
              <a:rPr lang="en-US" altLang="ko-KR" dirty="0"/>
              <a:t>+ </a:t>
            </a:r>
            <a:r>
              <a:rPr lang="ko-KR" altLang="en-US" dirty="0"/>
              <a:t>카메라 오프셋 고려</a:t>
            </a:r>
            <a:endParaRPr lang="en-US" altLang="ko-KR" dirty="0"/>
          </a:p>
          <a:p>
            <a:pPr lvl="1"/>
            <a:r>
              <a:rPr lang="ko-KR" altLang="en-US" dirty="0"/>
              <a:t>이보다 천장이 낮은 지형은 경로 탐색 지원하지 않음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3165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7E942F-493E-679A-1D02-A85A17456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청크</a:t>
            </a:r>
            <a:r>
              <a:rPr lang="ko-KR" altLang="en-US" dirty="0"/>
              <a:t> 도입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F8ECE2-1576-8CD3-1695-6939AC803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청크의</a:t>
            </a:r>
            <a:r>
              <a:rPr lang="ko-KR" altLang="en-US" dirty="0"/>
              <a:t> 크기는 가로세로높이 모두 </a:t>
            </a:r>
            <a:r>
              <a:rPr lang="en-US" altLang="ko-KR" dirty="0"/>
              <a:t>10</a:t>
            </a:r>
            <a:r>
              <a:rPr lang="ko-KR" altLang="en-US" dirty="0"/>
              <a:t>칸</a:t>
            </a:r>
            <a:r>
              <a:rPr lang="en-US" altLang="ko-KR" dirty="0"/>
              <a:t>(5m)</a:t>
            </a:r>
            <a:r>
              <a:rPr lang="ko-KR" altLang="en-US" dirty="0"/>
              <a:t>로 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④ </a:t>
            </a:r>
            <a:r>
              <a:rPr lang="en-US" altLang="ko-KR" dirty="0"/>
              <a:t>‘</a:t>
            </a:r>
            <a:r>
              <a:rPr lang="ko-KR" altLang="en-US" dirty="0"/>
              <a:t>최소 천장높이 </a:t>
            </a:r>
            <a:r>
              <a:rPr lang="en-US" altLang="ko-KR" dirty="0"/>
              <a:t>5m’ </a:t>
            </a:r>
            <a:r>
              <a:rPr lang="ko-KR" altLang="en-US" dirty="0"/>
              <a:t>전제 조건에 의해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하나의 </a:t>
            </a:r>
            <a:r>
              <a:rPr lang="ko-KR" altLang="en-US" dirty="0" err="1"/>
              <a:t>청크</a:t>
            </a:r>
            <a:r>
              <a:rPr lang="ko-KR" altLang="en-US" dirty="0"/>
              <a:t> 내에서는 지나다닐 수 있는 표면이 </a:t>
            </a:r>
            <a:r>
              <a:rPr lang="en-US" altLang="ko-KR" dirty="0"/>
              <a:t>1</a:t>
            </a:r>
            <a:r>
              <a:rPr lang="ko-KR" altLang="en-US" dirty="0"/>
              <a:t>개만 존재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차원 </a:t>
            </a:r>
            <a:r>
              <a:rPr lang="ko-KR" altLang="en-US" dirty="0" err="1"/>
              <a:t>복셀</a:t>
            </a:r>
            <a:r>
              <a:rPr lang="ko-KR" altLang="en-US" dirty="0"/>
              <a:t> </a:t>
            </a:r>
            <a:r>
              <a:rPr lang="ko-KR" altLang="en-US" dirty="0" err="1"/>
              <a:t>맵을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차원 </a:t>
            </a:r>
            <a:r>
              <a:rPr lang="en-US" altLang="ko-KR" dirty="0"/>
              <a:t>height map</a:t>
            </a:r>
            <a:r>
              <a:rPr lang="ko-KR" altLang="en-US" dirty="0"/>
              <a:t>으로 표현 가능</a:t>
            </a:r>
            <a:endParaRPr lang="en-US" altLang="ko-KR" dirty="0"/>
          </a:p>
          <a:p>
            <a:r>
              <a:rPr lang="en-US" altLang="ko-KR" dirty="0"/>
              <a:t>Height map</a:t>
            </a:r>
            <a:r>
              <a:rPr lang="ko-KR" altLang="en-US" dirty="0"/>
              <a:t>의 각 셀은 </a:t>
            </a:r>
            <a:r>
              <a:rPr lang="en-US" altLang="ko-KR" dirty="0"/>
              <a:t>1 byte</a:t>
            </a:r>
            <a:r>
              <a:rPr lang="ko-KR" altLang="en-US" dirty="0"/>
              <a:t>로 양자화</a:t>
            </a:r>
            <a:endParaRPr lang="en-US" altLang="ko-KR" dirty="0"/>
          </a:p>
          <a:p>
            <a:pPr lvl="1"/>
            <a:r>
              <a:rPr lang="en-US" altLang="ko-KR" dirty="0"/>
              <a:t>0x00</a:t>
            </a:r>
            <a:r>
              <a:rPr lang="ko-KR" altLang="en-US" dirty="0"/>
              <a:t>은 </a:t>
            </a:r>
            <a:r>
              <a:rPr lang="en-US" altLang="ko-KR" dirty="0"/>
              <a:t>‘</a:t>
            </a:r>
            <a:r>
              <a:rPr lang="ko-KR" altLang="en-US" dirty="0"/>
              <a:t>보행가능 지면 없음</a:t>
            </a:r>
            <a:r>
              <a:rPr lang="en-US" altLang="ko-KR" dirty="0"/>
              <a:t>’</a:t>
            </a:r>
            <a:r>
              <a:rPr lang="ko-KR" altLang="en-US" dirty="0"/>
              <a:t>으로 예약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 err="1"/>
              <a:t>청크</a:t>
            </a:r>
            <a:r>
              <a:rPr lang="ko-KR" altLang="en-US" dirty="0"/>
              <a:t> 크기 </a:t>
            </a:r>
            <a:r>
              <a:rPr lang="en-US" altLang="ko-KR" dirty="0"/>
              <a:t>5m)</a:t>
            </a:r>
            <a:r>
              <a:rPr lang="ko-KR" altLang="en-US" dirty="0"/>
              <a:t> </a:t>
            </a:r>
            <a:r>
              <a:rPr lang="en-US" altLang="ko-KR" dirty="0"/>
              <a:t>/ 254 = 0.0197m, </a:t>
            </a:r>
            <a:r>
              <a:rPr lang="ko-KR" altLang="en-US" dirty="0"/>
              <a:t>약 </a:t>
            </a:r>
            <a:r>
              <a:rPr lang="en-US" altLang="ko-KR" dirty="0"/>
              <a:t>2cm</a:t>
            </a:r>
            <a:r>
              <a:rPr lang="ko-KR" altLang="en-US" dirty="0"/>
              <a:t> 해상도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6749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8CCE8E9-61CC-583C-10F2-DC3FB23D8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725" y="2511842"/>
            <a:ext cx="3724275" cy="343852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B25D7ED-2F4B-0C5F-0CD7-9646607E8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침식 필터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278DEE-AD14-F401-65A8-123644618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② </a:t>
            </a:r>
            <a:r>
              <a:rPr lang="en-US" altLang="ko-KR" dirty="0"/>
              <a:t>‘</a:t>
            </a:r>
            <a:r>
              <a:rPr lang="ko-KR" altLang="en-US" dirty="0"/>
              <a:t>벽</a:t>
            </a:r>
            <a:r>
              <a:rPr lang="en-US" altLang="ko-KR" dirty="0"/>
              <a:t>&amp;</a:t>
            </a:r>
            <a:r>
              <a:rPr lang="ko-KR" altLang="en-US" dirty="0"/>
              <a:t>낭떠러지 기피</a:t>
            </a:r>
            <a:r>
              <a:rPr lang="en-US" altLang="ko-KR" dirty="0"/>
              <a:t>’ </a:t>
            </a:r>
            <a:r>
              <a:rPr lang="ko-KR" altLang="en-US" dirty="0"/>
              <a:t>제약 조건에 의해 벽이나 낭떠러지와 가까운 곳은 통행 불가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주변 </a:t>
            </a:r>
            <a:r>
              <a:rPr lang="en-US" altLang="ko-KR" dirty="0"/>
              <a:t>8</a:t>
            </a:r>
            <a:r>
              <a:rPr lang="ko-KR" altLang="en-US" dirty="0"/>
              <a:t>방향 중에 </a:t>
            </a:r>
            <a:r>
              <a:rPr lang="ko-KR" altLang="en-US" dirty="0" err="1"/>
              <a:t>통행불가능한</a:t>
            </a:r>
            <a:r>
              <a:rPr lang="ko-KR" altLang="en-US" dirty="0"/>
              <a:t> 방향이 있으면 </a:t>
            </a:r>
            <a:br>
              <a:rPr lang="en-US" altLang="ko-KR" dirty="0"/>
            </a:br>
            <a:r>
              <a:rPr lang="ko-KR" altLang="en-US" dirty="0"/>
              <a:t>해당 제약 조건을 위반하는 것으로 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침식 필터</a:t>
            </a:r>
            <a:r>
              <a:rPr lang="en-US" altLang="ko-KR" dirty="0"/>
              <a:t>: </a:t>
            </a:r>
            <a:r>
              <a:rPr lang="ko-KR" altLang="en-US" dirty="0"/>
              <a:t>주변 </a:t>
            </a:r>
            <a:r>
              <a:rPr lang="en-US" altLang="ko-KR" dirty="0"/>
              <a:t>8</a:t>
            </a:r>
            <a:r>
              <a:rPr lang="ko-KR" altLang="en-US" dirty="0"/>
              <a:t>방향과 연결되지 않은 노드는 제거</a:t>
            </a:r>
            <a:endParaRPr lang="en-US" altLang="ko-KR" dirty="0"/>
          </a:p>
          <a:p>
            <a:pPr lvl="1"/>
            <a:r>
              <a:rPr lang="en-US" altLang="ko-KR" dirty="0"/>
              <a:t>Computer Vision</a:t>
            </a:r>
            <a:r>
              <a:rPr lang="ko-KR" altLang="en-US" dirty="0"/>
              <a:t>에서의 </a:t>
            </a:r>
            <a:r>
              <a:rPr lang="en-US" altLang="ko-KR" dirty="0"/>
              <a:t>Erosion filter </a:t>
            </a:r>
            <a:r>
              <a:rPr lang="ko-KR" altLang="en-US" dirty="0"/>
              <a:t>개념 차용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03025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90C8C-68E9-D147-B7A1-2413124F5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침식 필터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178C6B-ED96-952A-C794-D1AE1FA5A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침식 필터가 적용된 후에는 </a:t>
            </a:r>
            <a:br>
              <a:rPr lang="en-US" altLang="ko-KR" dirty="0"/>
            </a:br>
            <a:r>
              <a:rPr lang="ko-KR" altLang="en-US" dirty="0"/>
              <a:t>이웃한 노드 간에 반드시 </a:t>
            </a:r>
            <a:r>
              <a:rPr lang="ko-KR" altLang="en-US" dirty="0" err="1"/>
              <a:t>연결되어있음을</a:t>
            </a:r>
            <a:r>
              <a:rPr lang="ko-KR" altLang="en-US" dirty="0"/>
              <a:t> 보장할 수 있음</a:t>
            </a:r>
            <a:endParaRPr lang="en-US" altLang="ko-KR" dirty="0"/>
          </a:p>
          <a:p>
            <a:r>
              <a:rPr lang="ko-KR" altLang="en-US" dirty="0"/>
              <a:t>연결되지 않은 이웃이 있는 경우 다 </a:t>
            </a:r>
            <a:r>
              <a:rPr lang="ko-KR" altLang="en-US" dirty="0" err="1"/>
              <a:t>잘려나갔기</a:t>
            </a:r>
            <a:r>
              <a:rPr lang="ko-KR" altLang="en-US" dirty="0"/>
              <a:t> 때문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따라서 </a:t>
            </a:r>
            <a:r>
              <a:rPr lang="en-US" altLang="ko-KR" dirty="0"/>
              <a:t>Edge </a:t>
            </a:r>
            <a:r>
              <a:rPr lang="ko-KR" altLang="en-US" dirty="0"/>
              <a:t>연결 데이터 생략 가능</a:t>
            </a:r>
            <a:endParaRPr lang="en-US" altLang="ko-KR" dirty="0"/>
          </a:p>
          <a:p>
            <a:pPr lvl="1"/>
            <a:r>
              <a:rPr lang="en-US" altLang="ko-KR" dirty="0"/>
              <a:t>Pathfinding </a:t>
            </a:r>
            <a:r>
              <a:rPr lang="ko-KR" altLang="en-US" dirty="0"/>
              <a:t>시에도 </a:t>
            </a:r>
            <a:r>
              <a:rPr lang="en-US" altLang="ko-KR" dirty="0"/>
              <a:t>(X,Y)</a:t>
            </a:r>
            <a:r>
              <a:rPr lang="ko-KR" altLang="en-US" dirty="0"/>
              <a:t>로 이웃한 </a:t>
            </a:r>
            <a:r>
              <a:rPr lang="ko-KR" altLang="en-US" dirty="0" err="1"/>
              <a:t>청크간의</a:t>
            </a:r>
            <a:r>
              <a:rPr lang="ko-KR" altLang="en-US" dirty="0"/>
              <a:t> 연결성 검사 생략 가능</a:t>
            </a:r>
          </a:p>
        </p:txBody>
      </p:sp>
    </p:spTree>
    <p:extLst>
      <p:ext uri="{BB962C8B-B14F-4D97-AF65-F5344CB8AC3E}">
        <p14:creationId xmlns:p14="http://schemas.microsoft.com/office/powerpoint/2010/main" val="2951676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273A6-7EEA-E79F-BA6E-B46387757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F931B18-4EA0-9BBB-5E0F-9080B4684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7676" y="0"/>
            <a:ext cx="5277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153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4A80E-0331-7CB1-6370-526B475CB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4F555-1040-CA05-902F-7AEAC0781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EFE35A0-F233-F677-D248-3E66E66CD5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897676" y="0"/>
            <a:ext cx="5277444" cy="6858000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0264FF4-5194-AA4C-0CAA-16A8C9462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403481"/>
              </p:ext>
            </p:extLst>
          </p:nvPr>
        </p:nvGraphicFramePr>
        <p:xfrm>
          <a:off x="3658014" y="1690688"/>
          <a:ext cx="5277448" cy="4854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681">
                  <a:extLst>
                    <a:ext uri="{9D8B030D-6E8A-4147-A177-3AD203B41FA5}">
                      <a16:colId xmlns:a16="http://schemas.microsoft.com/office/drawing/2014/main" val="2412657154"/>
                    </a:ext>
                  </a:extLst>
                </a:gridCol>
                <a:gridCol w="659681">
                  <a:extLst>
                    <a:ext uri="{9D8B030D-6E8A-4147-A177-3AD203B41FA5}">
                      <a16:colId xmlns:a16="http://schemas.microsoft.com/office/drawing/2014/main" val="779548017"/>
                    </a:ext>
                  </a:extLst>
                </a:gridCol>
                <a:gridCol w="659681">
                  <a:extLst>
                    <a:ext uri="{9D8B030D-6E8A-4147-A177-3AD203B41FA5}">
                      <a16:colId xmlns:a16="http://schemas.microsoft.com/office/drawing/2014/main" val="3898771565"/>
                    </a:ext>
                  </a:extLst>
                </a:gridCol>
                <a:gridCol w="659681">
                  <a:extLst>
                    <a:ext uri="{9D8B030D-6E8A-4147-A177-3AD203B41FA5}">
                      <a16:colId xmlns:a16="http://schemas.microsoft.com/office/drawing/2014/main" val="1837133526"/>
                    </a:ext>
                  </a:extLst>
                </a:gridCol>
                <a:gridCol w="659681">
                  <a:extLst>
                    <a:ext uri="{9D8B030D-6E8A-4147-A177-3AD203B41FA5}">
                      <a16:colId xmlns:a16="http://schemas.microsoft.com/office/drawing/2014/main" val="3447193976"/>
                    </a:ext>
                  </a:extLst>
                </a:gridCol>
                <a:gridCol w="659681">
                  <a:extLst>
                    <a:ext uri="{9D8B030D-6E8A-4147-A177-3AD203B41FA5}">
                      <a16:colId xmlns:a16="http://schemas.microsoft.com/office/drawing/2014/main" val="2372849032"/>
                    </a:ext>
                  </a:extLst>
                </a:gridCol>
                <a:gridCol w="659681">
                  <a:extLst>
                    <a:ext uri="{9D8B030D-6E8A-4147-A177-3AD203B41FA5}">
                      <a16:colId xmlns:a16="http://schemas.microsoft.com/office/drawing/2014/main" val="2488279771"/>
                    </a:ext>
                  </a:extLst>
                </a:gridCol>
                <a:gridCol w="659681">
                  <a:extLst>
                    <a:ext uri="{9D8B030D-6E8A-4147-A177-3AD203B41FA5}">
                      <a16:colId xmlns:a16="http://schemas.microsoft.com/office/drawing/2014/main" val="589908306"/>
                    </a:ext>
                  </a:extLst>
                </a:gridCol>
              </a:tblGrid>
              <a:tr h="69346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894157"/>
                  </a:ext>
                </a:extLst>
              </a:tr>
              <a:tr h="69346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329603"/>
                  </a:ext>
                </a:extLst>
              </a:tr>
              <a:tr h="69346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416625"/>
                  </a:ext>
                </a:extLst>
              </a:tr>
              <a:tr h="69346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99690"/>
                  </a:ext>
                </a:extLst>
              </a:tr>
              <a:tr h="69346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29952"/>
                  </a:ext>
                </a:extLst>
              </a:tr>
              <a:tr h="69346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977355"/>
                  </a:ext>
                </a:extLst>
              </a:tr>
              <a:tr h="69346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861177"/>
                  </a:ext>
                </a:extLst>
              </a:tr>
            </a:tbl>
          </a:graphicData>
        </a:graphic>
      </p:graphicFrame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2D5A6EA-7DF6-40CC-CAAC-01E6618B4539}"/>
              </a:ext>
            </a:extLst>
          </p:cNvPr>
          <p:cNvCxnSpPr/>
          <p:nvPr/>
        </p:nvCxnSpPr>
        <p:spPr>
          <a:xfrm>
            <a:off x="6312568" y="2390274"/>
            <a:ext cx="0" cy="345707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B072728-C0BF-1238-907A-75F2E651535D}"/>
              </a:ext>
            </a:extLst>
          </p:cNvPr>
          <p:cNvSpPr txBox="1"/>
          <p:nvPr/>
        </p:nvSpPr>
        <p:spPr>
          <a:xfrm>
            <a:off x="346361" y="3194485"/>
            <a:ext cx="31918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Before</a:t>
            </a:r>
          </a:p>
          <a:p>
            <a:r>
              <a:rPr lang="ko-KR" altLang="en-US" dirty="0"/>
              <a:t>이웃하였으나 통행 불가능한 셀 쌍이 존재</a:t>
            </a:r>
          </a:p>
        </p:txBody>
      </p:sp>
    </p:spTree>
    <p:extLst>
      <p:ext uri="{BB962C8B-B14F-4D97-AF65-F5344CB8AC3E}">
        <p14:creationId xmlns:p14="http://schemas.microsoft.com/office/powerpoint/2010/main" val="1287821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FA077-421C-DB4F-FC0D-F847EA71A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F91B0-0E38-A480-80A7-C30271204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E2190D7-0FB8-F79E-0DD3-8CFDC34AA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897676" y="0"/>
            <a:ext cx="5277444" cy="6858000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DFF32E7-5427-03AC-9FA0-42A0F44E5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946156"/>
              </p:ext>
            </p:extLst>
          </p:nvPr>
        </p:nvGraphicFramePr>
        <p:xfrm>
          <a:off x="3658014" y="1690688"/>
          <a:ext cx="5277448" cy="4854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681">
                  <a:extLst>
                    <a:ext uri="{9D8B030D-6E8A-4147-A177-3AD203B41FA5}">
                      <a16:colId xmlns:a16="http://schemas.microsoft.com/office/drawing/2014/main" val="2412657154"/>
                    </a:ext>
                  </a:extLst>
                </a:gridCol>
                <a:gridCol w="659681">
                  <a:extLst>
                    <a:ext uri="{9D8B030D-6E8A-4147-A177-3AD203B41FA5}">
                      <a16:colId xmlns:a16="http://schemas.microsoft.com/office/drawing/2014/main" val="779548017"/>
                    </a:ext>
                  </a:extLst>
                </a:gridCol>
                <a:gridCol w="659681">
                  <a:extLst>
                    <a:ext uri="{9D8B030D-6E8A-4147-A177-3AD203B41FA5}">
                      <a16:colId xmlns:a16="http://schemas.microsoft.com/office/drawing/2014/main" val="3898771565"/>
                    </a:ext>
                  </a:extLst>
                </a:gridCol>
                <a:gridCol w="659681">
                  <a:extLst>
                    <a:ext uri="{9D8B030D-6E8A-4147-A177-3AD203B41FA5}">
                      <a16:colId xmlns:a16="http://schemas.microsoft.com/office/drawing/2014/main" val="1837133526"/>
                    </a:ext>
                  </a:extLst>
                </a:gridCol>
                <a:gridCol w="659681">
                  <a:extLst>
                    <a:ext uri="{9D8B030D-6E8A-4147-A177-3AD203B41FA5}">
                      <a16:colId xmlns:a16="http://schemas.microsoft.com/office/drawing/2014/main" val="3447193976"/>
                    </a:ext>
                  </a:extLst>
                </a:gridCol>
                <a:gridCol w="659681">
                  <a:extLst>
                    <a:ext uri="{9D8B030D-6E8A-4147-A177-3AD203B41FA5}">
                      <a16:colId xmlns:a16="http://schemas.microsoft.com/office/drawing/2014/main" val="2372849032"/>
                    </a:ext>
                  </a:extLst>
                </a:gridCol>
                <a:gridCol w="659681">
                  <a:extLst>
                    <a:ext uri="{9D8B030D-6E8A-4147-A177-3AD203B41FA5}">
                      <a16:colId xmlns:a16="http://schemas.microsoft.com/office/drawing/2014/main" val="2488279771"/>
                    </a:ext>
                  </a:extLst>
                </a:gridCol>
                <a:gridCol w="659681">
                  <a:extLst>
                    <a:ext uri="{9D8B030D-6E8A-4147-A177-3AD203B41FA5}">
                      <a16:colId xmlns:a16="http://schemas.microsoft.com/office/drawing/2014/main" val="589908306"/>
                    </a:ext>
                  </a:extLst>
                </a:gridCol>
              </a:tblGrid>
              <a:tr h="69346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894157"/>
                  </a:ext>
                </a:extLst>
              </a:tr>
              <a:tr h="69346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329603"/>
                  </a:ext>
                </a:extLst>
              </a:tr>
              <a:tr h="69346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416625"/>
                  </a:ext>
                </a:extLst>
              </a:tr>
              <a:tr h="69346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99690"/>
                  </a:ext>
                </a:extLst>
              </a:tr>
              <a:tr h="69346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29952"/>
                  </a:ext>
                </a:extLst>
              </a:tr>
              <a:tr h="69346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977355"/>
                  </a:ext>
                </a:extLst>
              </a:tr>
              <a:tr h="69346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FFFF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8611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65C9A6E-EEB3-E824-E08E-4961CCB72AE2}"/>
              </a:ext>
            </a:extLst>
          </p:cNvPr>
          <p:cNvSpPr txBox="1"/>
          <p:nvPr/>
        </p:nvSpPr>
        <p:spPr>
          <a:xfrm>
            <a:off x="346361" y="3194485"/>
            <a:ext cx="319182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After</a:t>
            </a:r>
          </a:p>
          <a:p>
            <a:r>
              <a:rPr lang="ko-KR" altLang="en-US" dirty="0"/>
              <a:t>통행가능한 구역은 감소</a:t>
            </a:r>
            <a:endParaRPr lang="en-US" altLang="ko-KR" dirty="0"/>
          </a:p>
          <a:p>
            <a:r>
              <a:rPr lang="ko-KR" altLang="en-US" dirty="0"/>
              <a:t>그러나 이웃한 구역은 반드시</a:t>
            </a:r>
            <a:endParaRPr lang="en-US" altLang="ko-KR" dirty="0"/>
          </a:p>
          <a:p>
            <a:r>
              <a:rPr lang="ko-KR" altLang="en-US" dirty="0"/>
              <a:t>통행 가능함이 보장</a:t>
            </a:r>
          </a:p>
        </p:txBody>
      </p:sp>
    </p:spTree>
    <p:extLst>
      <p:ext uri="{BB962C8B-B14F-4D97-AF65-F5344CB8AC3E}">
        <p14:creationId xmlns:p14="http://schemas.microsoft.com/office/powerpoint/2010/main" val="490482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7840C9-1B8E-8470-8E4E-8EC0E40C0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청크</a:t>
            </a:r>
            <a:r>
              <a:rPr lang="ko-KR" altLang="en-US" dirty="0"/>
              <a:t> 도입 </a:t>
            </a:r>
            <a:r>
              <a:rPr lang="en-US" altLang="ko-KR" dirty="0"/>
              <a:t>&amp; </a:t>
            </a:r>
            <a:r>
              <a:rPr lang="ko-KR" altLang="en-US" dirty="0"/>
              <a:t>침식 필터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2919D5-A38B-BF18-E5B7-AE5BBBE25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메모리 사용량</a:t>
            </a:r>
            <a:endParaRPr lang="en-US" altLang="ko-KR" dirty="0"/>
          </a:p>
          <a:p>
            <a:pPr lvl="1"/>
            <a:r>
              <a:rPr lang="ko-KR" altLang="en-US" dirty="0"/>
              <a:t>동일한 </a:t>
            </a:r>
            <a:r>
              <a:rPr lang="en-US" altLang="ko-KR" dirty="0"/>
              <a:t>400m * 400m * 200m </a:t>
            </a:r>
            <a:r>
              <a:rPr lang="ko-KR" altLang="en-US" dirty="0"/>
              <a:t>영역 기준</a:t>
            </a:r>
            <a:endParaRPr lang="en-US" altLang="ko-KR" dirty="0"/>
          </a:p>
          <a:p>
            <a:pPr lvl="1"/>
            <a:r>
              <a:rPr lang="ko-KR" altLang="en-US" dirty="0"/>
              <a:t>스트리밍 미적용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 err="1"/>
              <a:t>청크</a:t>
            </a:r>
            <a:r>
              <a:rPr lang="ko-KR" altLang="en-US" dirty="0"/>
              <a:t> 자체의 연결 정보 및 후술할 </a:t>
            </a:r>
            <a:r>
              <a:rPr lang="en-US" altLang="ko-KR" dirty="0"/>
              <a:t>HPA*</a:t>
            </a:r>
            <a:r>
              <a:rPr lang="ko-KR" altLang="en-US" dirty="0"/>
              <a:t>를 위한 포탈 정보 처리로 인해 </a:t>
            </a:r>
            <a:br>
              <a:rPr lang="en-US" altLang="ko-KR" dirty="0"/>
            </a:br>
            <a:r>
              <a:rPr lang="ko-KR" altLang="en-US" dirty="0" err="1"/>
              <a:t>베이크</a:t>
            </a:r>
            <a:r>
              <a:rPr lang="ko-KR" altLang="en-US" dirty="0"/>
              <a:t> 과정 중의 사용량은 증가했으나 런타임 사용량은 크게 감소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71D57A2-3689-5C7A-23F4-F64A4D61E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306123"/>
              </p:ext>
            </p:extLst>
          </p:nvPr>
        </p:nvGraphicFramePr>
        <p:xfrm>
          <a:off x="2032000" y="3445034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57954734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2447176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86139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적용 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적용 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305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런타임 사용량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59.93MiB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dirty="0"/>
                        <a:t>5.06MB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66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베이크타임</a:t>
                      </a:r>
                      <a:r>
                        <a:rPr lang="ko-KR" altLang="en-US" dirty="0"/>
                        <a:t> 피크 사용량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59.93MiB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70.53MiB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490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1233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6D4C60-A3BC-C646-F460-00E105980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Bake</a:t>
            </a:r>
            <a:r>
              <a:rPr lang="ko-KR" altLang="en-US" dirty="0"/>
              <a:t> 과정 최적화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C0E484-6109-80B4-BF9F-C4323F923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청크</a:t>
            </a:r>
            <a:r>
              <a:rPr lang="ko-KR" altLang="en-US" dirty="0"/>
              <a:t> 단위로 </a:t>
            </a:r>
            <a:r>
              <a:rPr lang="en-US" altLang="ko-KR" dirty="0"/>
              <a:t>Overlap Test</a:t>
            </a:r>
            <a:r>
              <a:rPr lang="ko-KR" altLang="en-US" dirty="0"/>
              <a:t>를 먼저 수행</a:t>
            </a:r>
            <a:r>
              <a:rPr lang="en-US" altLang="ko-KR" dirty="0"/>
              <a:t>(Broad phase)</a:t>
            </a:r>
            <a:r>
              <a:rPr lang="ko-KR" altLang="en-US" dirty="0"/>
              <a:t> 후 </a:t>
            </a:r>
            <a:br>
              <a:rPr lang="en-US" altLang="ko-KR" dirty="0"/>
            </a:br>
            <a:r>
              <a:rPr lang="ko-KR" altLang="en-US" dirty="0"/>
              <a:t>지나갈 수 있는 지면이 있는 </a:t>
            </a:r>
            <a:r>
              <a:rPr lang="ko-KR" altLang="en-US" dirty="0" err="1"/>
              <a:t>청크만</a:t>
            </a:r>
            <a:r>
              <a:rPr lang="ko-KR" altLang="en-US" dirty="0"/>
              <a:t> </a:t>
            </a:r>
            <a:r>
              <a:rPr lang="ko-KR" altLang="en-US" dirty="0" err="1"/>
              <a:t>복셀</a:t>
            </a:r>
            <a:r>
              <a:rPr lang="ko-KR" altLang="en-US" dirty="0"/>
              <a:t> 형성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동일 위치의 </a:t>
            </a:r>
            <a:r>
              <a:rPr lang="en-US" altLang="ko-KR" dirty="0"/>
              <a:t>(400m, 400m, 100m) </a:t>
            </a:r>
            <a:r>
              <a:rPr lang="ko-KR" altLang="en-US" dirty="0"/>
              <a:t>구역</a:t>
            </a:r>
            <a:r>
              <a:rPr lang="en-US" altLang="ko-KR" dirty="0"/>
              <a:t>, CPU i9-12900K</a:t>
            </a:r>
            <a:r>
              <a:rPr lang="ko-KR" altLang="en-US" dirty="0"/>
              <a:t> 기준</a:t>
            </a:r>
            <a:endParaRPr lang="en-US" altLang="ko-KR" dirty="0"/>
          </a:p>
          <a:p>
            <a:pPr lvl="1"/>
            <a:r>
              <a:rPr lang="ko-KR" altLang="en-US" dirty="0"/>
              <a:t>기존 </a:t>
            </a:r>
            <a:r>
              <a:rPr lang="ko-KR" altLang="ko-KR" dirty="0"/>
              <a:t>639406.56</a:t>
            </a:r>
            <a:r>
              <a:rPr lang="en-US" altLang="ko-KR" dirty="0" err="1"/>
              <a:t>ms</a:t>
            </a:r>
            <a:r>
              <a:rPr lang="en-US" altLang="ko-KR" dirty="0"/>
              <a:t> (10</a:t>
            </a:r>
            <a:r>
              <a:rPr lang="ko-KR" altLang="en-US" dirty="0"/>
              <a:t>분 </a:t>
            </a:r>
            <a:r>
              <a:rPr lang="en-US" altLang="ko-KR" dirty="0"/>
              <a:t>39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개선 후 </a:t>
            </a:r>
            <a:r>
              <a:rPr lang="ko-KR" altLang="ko-KR" dirty="0"/>
              <a:t>38321.85ms</a:t>
            </a:r>
            <a:r>
              <a:rPr lang="en-US" altLang="ko-KR" dirty="0"/>
              <a:t> (38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89018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7E995-E685-72E9-AA5B-295E1BE3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청크</a:t>
            </a:r>
            <a:r>
              <a:rPr lang="ko-KR" altLang="en-US" dirty="0"/>
              <a:t> 스트리밍 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CA699A-D554-439D-9F7D-DE59B5B29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자신 근처 반경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Radius</a:t>
            </a:r>
            <a:r>
              <a:rPr lang="en-US" altLang="ko-KR" dirty="0"/>
              <a:t> </a:t>
            </a:r>
            <a:r>
              <a:rPr lang="ko-KR" altLang="en-US" dirty="0"/>
              <a:t>이내에 </a:t>
            </a:r>
            <a:r>
              <a:rPr lang="ko-KR" altLang="en-US" dirty="0" err="1"/>
              <a:t>청크가</a:t>
            </a:r>
            <a:r>
              <a:rPr lang="ko-KR" altLang="en-US" dirty="0"/>
              <a:t> 있을 경우 로드</a:t>
            </a:r>
            <a:endParaRPr lang="en-US" altLang="ko-KR" dirty="0"/>
          </a:p>
          <a:p>
            <a:r>
              <a:rPr lang="ko-KR" altLang="en-US" dirty="0"/>
              <a:t>만약 로드된 </a:t>
            </a:r>
            <a:r>
              <a:rPr lang="ko-KR" altLang="en-US" dirty="0" err="1"/>
              <a:t>청크</a:t>
            </a:r>
            <a:r>
              <a:rPr lang="ko-KR" altLang="en-US" dirty="0"/>
              <a:t> 개수가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MaxLoadedChunks</a:t>
            </a:r>
            <a:r>
              <a:rPr lang="ko-KR" altLang="en-US" dirty="0"/>
              <a:t>를 초과하면</a:t>
            </a:r>
            <a:br>
              <a:rPr lang="en-US" altLang="ko-KR" dirty="0"/>
            </a:br>
            <a:r>
              <a:rPr lang="ko-KR" altLang="en-US" dirty="0"/>
              <a:t>플레이어로부터 가장 먼 것부터 </a:t>
            </a:r>
            <a:r>
              <a:rPr lang="ko-KR" altLang="en-US" dirty="0" err="1"/>
              <a:t>언로드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청크</a:t>
            </a:r>
            <a:r>
              <a:rPr lang="ko-KR" altLang="en-US" dirty="0"/>
              <a:t> 로드 시의 </a:t>
            </a:r>
            <a:r>
              <a:rPr lang="en-US" altLang="ko-KR" dirty="0"/>
              <a:t>file read </a:t>
            </a:r>
            <a:r>
              <a:rPr lang="ko-KR" altLang="en-US" dirty="0"/>
              <a:t>자체는 비동기로 하되 </a:t>
            </a:r>
            <a:r>
              <a:rPr lang="en-US" altLang="ko-KR" dirty="0"/>
              <a:t>(std::async </a:t>
            </a:r>
            <a:r>
              <a:rPr lang="ko-KR" altLang="en-US" dirty="0"/>
              <a:t>활용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완료된 작업의 </a:t>
            </a:r>
            <a:r>
              <a:rPr lang="en-US" altLang="ko-KR" dirty="0"/>
              <a:t>Join </a:t>
            </a:r>
            <a:r>
              <a:rPr lang="ko-KR" altLang="en-US" dirty="0"/>
              <a:t>및 로드된 데이터를 적용은 </a:t>
            </a:r>
            <a:r>
              <a:rPr lang="en-US" altLang="ko-KR" dirty="0"/>
              <a:t>Tick()</a:t>
            </a:r>
            <a:r>
              <a:rPr lang="ko-KR" altLang="en-US" dirty="0"/>
              <a:t>내에서 수행</a:t>
            </a:r>
            <a:endParaRPr lang="en-US" altLang="ko-KR" dirty="0"/>
          </a:p>
          <a:p>
            <a:pPr lvl="1"/>
            <a:r>
              <a:rPr lang="en-US" altLang="ko-KR" dirty="0"/>
              <a:t>Tick</a:t>
            </a:r>
            <a:r>
              <a:rPr lang="ko-KR" altLang="en-US" dirty="0"/>
              <a:t>은 모두 </a:t>
            </a:r>
            <a:r>
              <a:rPr lang="ko-KR" altLang="en-US" dirty="0" err="1"/>
              <a:t>메인스레드에서</a:t>
            </a:r>
            <a:r>
              <a:rPr lang="ko-KR" altLang="en-US" dirty="0"/>
              <a:t> 수행되므로 동시 접근 배제가 보장됨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 err="1"/>
              <a:t>길찾기도</a:t>
            </a:r>
            <a:r>
              <a:rPr lang="ko-KR" altLang="en-US" dirty="0"/>
              <a:t> 단일 </a:t>
            </a:r>
            <a:r>
              <a:rPr lang="en-US" altLang="ko-KR" dirty="0"/>
              <a:t>Tick </a:t>
            </a:r>
            <a:r>
              <a:rPr lang="ko-KR" altLang="en-US" dirty="0"/>
              <a:t>내에서 수행될 경우 한정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17759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74B0DC-25DB-4D98-9A56-CF8CFF77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청크</a:t>
            </a:r>
            <a:r>
              <a:rPr lang="ko-KR" altLang="en-US" dirty="0"/>
              <a:t> 스트리밍 추가</a:t>
            </a:r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4427B1D5-B79B-8ABC-BFB0-9CD5FC1B0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Unreal</a:t>
            </a:r>
            <a:r>
              <a:rPr lang="ko-KR" altLang="en-US" dirty="0"/>
              <a:t>의 </a:t>
            </a:r>
            <a:r>
              <a:rPr lang="en-US" altLang="ko-KR" dirty="0" err="1"/>
              <a:t>FArchive</a:t>
            </a:r>
            <a:r>
              <a:rPr lang="ko-KR" altLang="en-US" dirty="0"/>
              <a:t>를 모방한</a:t>
            </a:r>
            <a:br>
              <a:rPr lang="en-US" altLang="ko-KR" dirty="0"/>
            </a:br>
            <a:r>
              <a:rPr lang="ko-KR" altLang="en-US" dirty="0"/>
              <a:t>입출력 구조가 </a:t>
            </a:r>
            <a:r>
              <a:rPr lang="ko-KR" altLang="en-US" dirty="0" err="1"/>
              <a:t>구현되어있어</a:t>
            </a:r>
            <a:r>
              <a:rPr lang="ko-KR" altLang="en-US" dirty="0"/>
              <a:t> 이를 활용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헤더 영역에서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ChunkCount</a:t>
            </a:r>
            <a:r>
              <a:rPr lang="ko-KR" altLang="en-US" dirty="0"/>
              <a:t>를 읽음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헤더의 끝부터 </a:t>
            </a:r>
            <a:br>
              <a:rPr lang="en-US" altLang="ko-KR" dirty="0"/>
            </a:b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sizeof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ChunkIndex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 * 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ChunkCount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/>
              <a:t>만큼을 </a:t>
            </a:r>
            <a:br>
              <a:rPr lang="en-US" altLang="ko-KR" dirty="0"/>
            </a:br>
            <a:r>
              <a:rPr lang="ko-KR" altLang="en-US" dirty="0"/>
              <a:t>읽고 카탈로그 생성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카탈로그를 기반으로 데이터 영역에 접근</a:t>
            </a:r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EBED80-B340-ADD6-142F-259C7592C40C}"/>
              </a:ext>
            </a:extLst>
          </p:cNvPr>
          <p:cNvSpPr/>
          <p:nvPr/>
        </p:nvSpPr>
        <p:spPr>
          <a:xfrm>
            <a:off x="7389394" y="5613912"/>
            <a:ext cx="2133600" cy="120234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solidFill>
                  <a:schemeClr val="tx1"/>
                </a:solidFill>
              </a:rPr>
              <a:t>ChunkIndex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tx1"/>
                </a:solidFill>
              </a:rPr>
              <a:t>ChunkCoord</a:t>
            </a: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1"/>
                </a:solidFill>
              </a:rPr>
              <a:t>Offset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1"/>
                </a:solidFill>
              </a:rPr>
              <a:t>Size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B27626-C37D-98B9-4ACC-56FB85D254D3}"/>
              </a:ext>
            </a:extLst>
          </p:cNvPr>
          <p:cNvSpPr/>
          <p:nvPr/>
        </p:nvSpPr>
        <p:spPr>
          <a:xfrm>
            <a:off x="9841832" y="3282195"/>
            <a:ext cx="2149642" cy="29397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데이터 영역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 err="1">
                <a:solidFill>
                  <a:schemeClr val="tx1"/>
                </a:solidFill>
              </a:rPr>
              <a:t>청크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개의 영역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8A44479-D912-D809-C842-9C14F65FB7D7}"/>
              </a:ext>
            </a:extLst>
          </p:cNvPr>
          <p:cNvSpPr/>
          <p:nvPr/>
        </p:nvSpPr>
        <p:spPr>
          <a:xfrm>
            <a:off x="9848974" y="1577722"/>
            <a:ext cx="2142500" cy="882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헤더 영역</a:t>
            </a:r>
            <a:endParaRPr lang="en-US" altLang="ko-KR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ABF95FE-F103-D17A-9EC9-50F5ACBA4567}"/>
              </a:ext>
            </a:extLst>
          </p:cNvPr>
          <p:cNvSpPr/>
          <p:nvPr/>
        </p:nvSpPr>
        <p:spPr>
          <a:xfrm>
            <a:off x="9842711" y="2460038"/>
            <a:ext cx="2156783" cy="8221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카탈로그 영역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754855B-77D6-F2D8-D0C4-8AFD52F00875}"/>
              </a:ext>
            </a:extLst>
          </p:cNvPr>
          <p:cNvCxnSpPr>
            <a:cxnSpLocks/>
          </p:cNvCxnSpPr>
          <p:nvPr/>
        </p:nvCxnSpPr>
        <p:spPr>
          <a:xfrm>
            <a:off x="9849853" y="4642603"/>
            <a:ext cx="2149642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54E5C71-1B5D-5906-B9F1-360029118C4A}"/>
              </a:ext>
            </a:extLst>
          </p:cNvPr>
          <p:cNvCxnSpPr>
            <a:cxnSpLocks/>
          </p:cNvCxnSpPr>
          <p:nvPr/>
        </p:nvCxnSpPr>
        <p:spPr>
          <a:xfrm>
            <a:off x="9841831" y="5105399"/>
            <a:ext cx="2149642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2C685932-0C53-DB4F-2FC1-60F7E6BA96F7}"/>
              </a:ext>
            </a:extLst>
          </p:cNvPr>
          <p:cNvCxnSpPr>
            <a:cxnSpLocks/>
          </p:cNvCxnSpPr>
          <p:nvPr/>
        </p:nvCxnSpPr>
        <p:spPr>
          <a:xfrm flipV="1">
            <a:off x="9522994" y="4878983"/>
            <a:ext cx="310816" cy="1469858"/>
          </a:xfrm>
          <a:prstGeom prst="bentConnector3">
            <a:avLst>
              <a:gd name="adj1" fmla="val 50000"/>
            </a:avLst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4B1E86AF-4CA8-4A60-445A-A3A678EA3179}"/>
              </a:ext>
            </a:extLst>
          </p:cNvPr>
          <p:cNvCxnSpPr>
            <a:cxnSpLocks/>
            <a:stCxn id="17" idx="1"/>
          </p:cNvCxnSpPr>
          <p:nvPr/>
        </p:nvCxnSpPr>
        <p:spPr>
          <a:xfrm rot="10800000" flipV="1">
            <a:off x="9331057" y="2871117"/>
            <a:ext cx="511654" cy="2742794"/>
          </a:xfrm>
          <a:prstGeom prst="bentConnector2">
            <a:avLst/>
          </a:prstGeom>
          <a:ln w="28575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048DE58-DCCA-DEEE-E9D9-4AA49086CE86}"/>
              </a:ext>
            </a:extLst>
          </p:cNvPr>
          <p:cNvSpPr txBox="1"/>
          <p:nvPr/>
        </p:nvSpPr>
        <p:spPr>
          <a:xfrm>
            <a:off x="3463283" y="5893570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std::vector&lt;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ChunkIndex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&gt; Catalog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9770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C98BD3-7074-F1E7-B52A-2DB4F4971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청크</a:t>
            </a:r>
            <a:r>
              <a:rPr lang="ko-KR" altLang="en-US" dirty="0"/>
              <a:t> 스트리밍 추가</a:t>
            </a:r>
          </a:p>
        </p:txBody>
      </p:sp>
      <p:pic>
        <p:nvPicPr>
          <p:cNvPr id="5" name="20260814-0732-54.4941370">
            <a:hlinkClick r:id="" action="ppaction://media"/>
            <a:extLst>
              <a:ext uri="{FF2B5EF4-FFF2-40B4-BE49-F238E27FC236}">
                <a16:creationId xmlns:a16="http://schemas.microsoft.com/office/drawing/2014/main" id="{CDF37A8F-20BD-5275-CB9B-BDEF434B5FF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81313" y="1825625"/>
            <a:ext cx="6427787" cy="4351338"/>
          </a:xfrm>
        </p:spPr>
      </p:pic>
    </p:spTree>
    <p:extLst>
      <p:ext uri="{BB962C8B-B14F-4D97-AF65-F5344CB8AC3E}">
        <p14:creationId xmlns:p14="http://schemas.microsoft.com/office/powerpoint/2010/main" val="296327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51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D7C1A-3EBD-F207-2EEB-2DF56AFEE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HPA*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2CA7D3-83B1-2374-6941-8C5D2929D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청크를</a:t>
            </a:r>
            <a:r>
              <a:rPr lang="ko-KR" altLang="en-US" dirty="0"/>
              <a:t> 사용하여 </a:t>
            </a:r>
            <a:r>
              <a:rPr lang="en-US" altLang="ko-KR" dirty="0"/>
              <a:t>HPA* </a:t>
            </a:r>
            <a:r>
              <a:rPr lang="ko-KR" altLang="en-US" dirty="0"/>
              <a:t>구현</a:t>
            </a:r>
            <a:endParaRPr lang="en-US" altLang="ko-KR" dirty="0"/>
          </a:p>
          <a:p>
            <a:r>
              <a:rPr lang="ko-KR" altLang="en-US" dirty="0"/>
              <a:t>연속된 영역을 </a:t>
            </a:r>
            <a:r>
              <a:rPr lang="en-US" altLang="ko-KR" dirty="0"/>
              <a:t>subarea</a:t>
            </a:r>
            <a:r>
              <a:rPr lang="ko-KR" altLang="en-US" dirty="0"/>
              <a:t>로 묶고 </a:t>
            </a:r>
            <a:r>
              <a:rPr lang="en-US" altLang="ko-KR" dirty="0"/>
              <a:t>1</a:t>
            </a:r>
            <a:r>
              <a:rPr lang="ko-KR" altLang="en-US" dirty="0"/>
              <a:t>개의 셀을 대표로 골라 </a:t>
            </a:r>
            <a:r>
              <a:rPr lang="en-US" altLang="ko-KR" dirty="0"/>
              <a:t>portal </a:t>
            </a:r>
            <a:r>
              <a:rPr lang="ko-KR" altLang="en-US" dirty="0"/>
              <a:t>형성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(400m, 400m, 100m) </a:t>
            </a:r>
            <a:r>
              <a:rPr lang="ko-KR" altLang="en-US" dirty="0"/>
              <a:t>구역의 대각선</a:t>
            </a:r>
            <a:r>
              <a:rPr lang="en-US" altLang="ko-KR" dirty="0"/>
              <a:t>, CPU i9-12900K</a:t>
            </a:r>
            <a:r>
              <a:rPr lang="ko-KR" altLang="en-US" dirty="0"/>
              <a:t> 기준</a:t>
            </a:r>
            <a:endParaRPr lang="en-US" altLang="ko-KR" dirty="0"/>
          </a:p>
          <a:p>
            <a:pPr lvl="1"/>
            <a:r>
              <a:rPr lang="ko-KR" altLang="en-US" dirty="0"/>
              <a:t>적용 전 </a:t>
            </a:r>
            <a:r>
              <a:rPr lang="en-US" altLang="ko-KR" dirty="0"/>
              <a:t>55.023ms</a:t>
            </a:r>
          </a:p>
          <a:p>
            <a:pPr lvl="1"/>
            <a:r>
              <a:rPr lang="ko-KR" altLang="en-US" dirty="0"/>
              <a:t>적용 후 </a:t>
            </a:r>
            <a:r>
              <a:rPr lang="en-US" altLang="ko-KR" dirty="0"/>
              <a:t>4.170ms</a:t>
            </a:r>
          </a:p>
          <a:p>
            <a:pPr lvl="1"/>
            <a:r>
              <a:rPr lang="ko-KR" altLang="en-US" dirty="0"/>
              <a:t>기존 대비 소요 시간 </a:t>
            </a:r>
            <a:r>
              <a:rPr lang="en-US" altLang="ko-KR" dirty="0"/>
              <a:t>7.6%</a:t>
            </a:r>
            <a:r>
              <a:rPr lang="ko-KR" altLang="en-US" dirty="0"/>
              <a:t>로 감소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 descr="algorithm - HPA* Pathfinding, building the hierarchical graph is too slow -  Game Development Stack Exchange">
            <a:extLst>
              <a:ext uri="{FF2B5EF4-FFF2-40B4-BE49-F238E27FC236}">
                <a16:creationId xmlns:a16="http://schemas.microsoft.com/office/drawing/2014/main" id="{AAADBD1D-3B4D-3A2D-B18A-4A6036D98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342" y="4317666"/>
            <a:ext cx="445770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586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1D8E4-8470-1C6D-EA2A-20DC8909A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경로 평탄화 </a:t>
            </a:r>
            <a:r>
              <a:rPr lang="en-US" altLang="ko-KR" dirty="0"/>
              <a:t>(Path smoothing)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3493FE-DD5E-89B3-586B-F89DDB9650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 err="1"/>
              <a:t>복셀</a:t>
            </a:r>
            <a:r>
              <a:rPr lang="ko-KR" altLang="en-US" dirty="0"/>
              <a:t> </a:t>
            </a:r>
            <a:r>
              <a:rPr lang="en-US" altLang="ko-KR" dirty="0"/>
              <a:t>A*</a:t>
            </a:r>
            <a:r>
              <a:rPr lang="ko-KR" altLang="en-US" dirty="0"/>
              <a:t>만으로는 경로가 </a:t>
            </a:r>
            <a:r>
              <a:rPr lang="en-US" altLang="ko-KR" dirty="0"/>
              <a:t>8</a:t>
            </a:r>
            <a:r>
              <a:rPr lang="ko-KR" altLang="en-US" dirty="0"/>
              <a:t>방향으로 제약됨</a:t>
            </a:r>
            <a:endParaRPr lang="en-US" altLang="ko-KR" dirty="0"/>
          </a:p>
          <a:p>
            <a:r>
              <a:rPr lang="en-US" altLang="ko-KR" dirty="0"/>
              <a:t>HPA*</a:t>
            </a:r>
            <a:r>
              <a:rPr lang="ko-KR" altLang="en-US" dirty="0"/>
              <a:t>를 도입하면 경로가 반드시 </a:t>
            </a:r>
            <a:br>
              <a:rPr lang="en-US" altLang="ko-KR" dirty="0"/>
            </a:br>
            <a:r>
              <a:rPr lang="en-US" altLang="ko-KR" dirty="0"/>
              <a:t>portal</a:t>
            </a:r>
            <a:r>
              <a:rPr lang="ko-KR" altLang="en-US" dirty="0"/>
              <a:t>을 지나기 때문에 </a:t>
            </a:r>
            <a:br>
              <a:rPr lang="en-US" altLang="ko-KR" dirty="0"/>
            </a:br>
            <a:r>
              <a:rPr lang="ko-KR" altLang="en-US" dirty="0"/>
              <a:t>더욱 </a:t>
            </a:r>
            <a:r>
              <a:rPr lang="en-US" altLang="ko-KR" dirty="0"/>
              <a:t>path smoothing</a:t>
            </a:r>
            <a:r>
              <a:rPr lang="ko-KR" altLang="en-US" dirty="0"/>
              <a:t>이</a:t>
            </a:r>
            <a:r>
              <a:rPr lang="en-US" altLang="ko-KR" dirty="0"/>
              <a:t> </a:t>
            </a:r>
            <a:r>
              <a:rPr lang="ko-KR" altLang="en-US" dirty="0"/>
              <a:t>필요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Portal</a:t>
            </a:r>
            <a:r>
              <a:rPr lang="ko-KR" altLang="en-US" dirty="0"/>
              <a:t>에 좌우 개념이 없으므로 </a:t>
            </a:r>
            <a:r>
              <a:rPr lang="en-US" altLang="ko-KR" dirty="0"/>
              <a:t>funnel algorithm</a:t>
            </a:r>
            <a:r>
              <a:rPr lang="ko-KR" altLang="en-US" dirty="0"/>
              <a:t>은 사용불가</a:t>
            </a:r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0EED869F-491A-D778-30BF-6B0C204058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170" y="1371599"/>
            <a:ext cx="4627488" cy="42330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628B84-1EE1-CB5D-3A75-0187418B79CF}"/>
              </a:ext>
            </a:extLst>
          </p:cNvPr>
          <p:cNvSpPr txBox="1"/>
          <p:nvPr/>
        </p:nvSpPr>
        <p:spPr>
          <a:xfrm>
            <a:off x="6356749" y="5662456"/>
            <a:ext cx="5835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8</a:t>
            </a:r>
            <a:r>
              <a:rPr lang="ko-KR" altLang="en-US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방향 이동 제약으로 인해 평야를 직선으로 가로지르지 못함</a:t>
            </a:r>
            <a:endParaRPr lang="en-US" altLang="ko-KR" dirty="0"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  <a:p>
            <a:pPr algn="ctr"/>
            <a:r>
              <a:rPr lang="ko-KR" altLang="en-US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게다가 </a:t>
            </a:r>
            <a:r>
              <a:rPr lang="en-US" altLang="ko-KR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HPA*</a:t>
            </a:r>
            <a:r>
              <a:rPr lang="ko-KR" altLang="en-US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로 인해 경로가 삐뚤빼뚤함</a:t>
            </a:r>
          </a:p>
        </p:txBody>
      </p:sp>
    </p:spTree>
    <p:extLst>
      <p:ext uri="{BB962C8B-B14F-4D97-AF65-F5344CB8AC3E}">
        <p14:creationId xmlns:p14="http://schemas.microsoft.com/office/powerpoint/2010/main" val="1155418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E51E215-DD87-6C0A-6BAC-AB90A71E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시도</a:t>
            </a:r>
            <a:r>
              <a:rPr lang="en-US" altLang="ko-KR" dirty="0"/>
              <a:t>: Douglas-</a:t>
            </a:r>
            <a:r>
              <a:rPr lang="en-US" altLang="ko-KR" dirty="0" err="1"/>
              <a:t>Peucker</a:t>
            </a:r>
            <a:r>
              <a:rPr lang="en-US" altLang="ko-KR" dirty="0"/>
              <a:t> algorithm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CE5935B-454C-3E4E-8C94-9F752B88D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곡선을 </a:t>
            </a:r>
            <a:r>
              <a:rPr lang="en-US" altLang="ko-KR" dirty="0"/>
              <a:t>polyline</a:t>
            </a:r>
            <a:r>
              <a:rPr lang="ko-KR" altLang="en-US" dirty="0"/>
              <a:t>으로 근사하는 알고리즘</a:t>
            </a:r>
            <a:endParaRPr lang="en-US" altLang="ko-KR" dirty="0"/>
          </a:p>
          <a:p>
            <a:r>
              <a:rPr lang="ko-KR" altLang="en-US" dirty="0"/>
              <a:t>특징</a:t>
            </a:r>
            <a:r>
              <a:rPr lang="en-US" altLang="ko-KR" dirty="0"/>
              <a:t>: </a:t>
            </a:r>
            <a:r>
              <a:rPr lang="ko-KR" altLang="en-US" dirty="0"/>
              <a:t>다른 알고리즘에 비해</a:t>
            </a:r>
            <a:br>
              <a:rPr lang="en-US" altLang="ko-KR" dirty="0"/>
            </a:br>
            <a:r>
              <a:rPr lang="en-US" altLang="ko-KR" dirty="0"/>
              <a:t>     </a:t>
            </a:r>
            <a:r>
              <a:rPr lang="ko-KR" altLang="en-US" dirty="0"/>
              <a:t>곡선의 </a:t>
            </a:r>
            <a:r>
              <a:rPr lang="en-US" altLang="ko-KR" dirty="0"/>
              <a:t>‘</a:t>
            </a:r>
            <a:r>
              <a:rPr lang="ko-KR" altLang="en-US" dirty="0"/>
              <a:t>튀어나온 점</a:t>
            </a:r>
            <a:r>
              <a:rPr lang="en-US" altLang="ko-KR" dirty="0"/>
              <a:t>’</a:t>
            </a:r>
            <a:r>
              <a:rPr lang="ko-KR" altLang="en-US" dirty="0"/>
              <a:t>을 잘 보존함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sz="2400" dirty="0"/>
              <a:t>[Start, End] </a:t>
            </a:r>
            <a:r>
              <a:rPr lang="ko-KR" altLang="en-US" sz="2400" dirty="0"/>
              <a:t>구간에서 둘을 잇는 직선과의 </a:t>
            </a:r>
            <a:br>
              <a:rPr lang="en-US" altLang="ko-KR" sz="2400" dirty="0"/>
            </a:br>
            <a:r>
              <a:rPr lang="ko-KR" altLang="en-US" sz="2400" dirty="0"/>
              <a:t>거리가 </a:t>
            </a:r>
            <a:r>
              <a:rPr lang="el-GR" altLang="ko-KR" sz="2400" dirty="0"/>
              <a:t>ε</a:t>
            </a:r>
            <a:r>
              <a:rPr lang="ko-KR" altLang="en-US" sz="2400" dirty="0"/>
              <a:t>보다 큰 점이 있는지 검사</a:t>
            </a:r>
            <a:endParaRPr lang="en-US" altLang="ko-KR" sz="2400" dirty="0"/>
          </a:p>
          <a:p>
            <a:pPr lvl="1"/>
            <a:r>
              <a:rPr lang="ko-KR" altLang="en-US" dirty="0"/>
              <a:t>없다면 해당 구간을 단일 직선으로 교체</a:t>
            </a:r>
            <a:endParaRPr lang="en-US" altLang="ko-KR" dirty="0"/>
          </a:p>
          <a:p>
            <a:pPr lvl="1"/>
            <a:r>
              <a:rPr lang="ko-KR" altLang="en-US" dirty="0"/>
              <a:t>있다면 해당 점으로 분할</a:t>
            </a:r>
            <a:r>
              <a:rPr lang="en-US" altLang="ko-KR" dirty="0"/>
              <a:t>, </a:t>
            </a:r>
            <a:r>
              <a:rPr lang="ko-KR" altLang="en-US" dirty="0"/>
              <a:t>재귀적으로 검사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386CC49-CFC1-028E-53AD-8FCDB62B7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191" y="1825625"/>
            <a:ext cx="4815809" cy="443638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7A81A44-E041-0B19-C048-03011C4160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460" y="5740400"/>
            <a:ext cx="2381250" cy="7524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B22975-EFAA-B439-C2AC-2E1D3AB65D94}"/>
              </a:ext>
            </a:extLst>
          </p:cNvPr>
          <p:cNvSpPr txBox="1"/>
          <p:nvPr/>
        </p:nvSpPr>
        <p:spPr>
          <a:xfrm>
            <a:off x="6896226" y="6311900"/>
            <a:ext cx="5288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다른 알고리즘에 비해 튀어나온 점이 잘 보존되는 모습</a:t>
            </a:r>
          </a:p>
        </p:txBody>
      </p:sp>
    </p:spTree>
    <p:extLst>
      <p:ext uri="{BB962C8B-B14F-4D97-AF65-F5344CB8AC3E}">
        <p14:creationId xmlns:p14="http://schemas.microsoft.com/office/powerpoint/2010/main" val="1677563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34888-BBCD-C83F-0C7C-B88AEF5F3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시도</a:t>
            </a:r>
            <a:r>
              <a:rPr lang="en-US" altLang="ko-KR" dirty="0"/>
              <a:t>: Douglas-</a:t>
            </a:r>
            <a:r>
              <a:rPr lang="en-US" altLang="ko-KR" dirty="0" err="1"/>
              <a:t>Peucker</a:t>
            </a:r>
            <a:r>
              <a:rPr lang="en-US" altLang="ko-KR" dirty="0"/>
              <a:t> algorithm</a:t>
            </a:r>
            <a:endParaRPr lang="ko-KR" altLang="en-US" dirty="0"/>
          </a:p>
        </p:txBody>
      </p:sp>
      <p:graphicFrame>
        <p:nvGraphicFramePr>
          <p:cNvPr id="8" name="내용 개체 틀 7">
            <a:extLst>
              <a:ext uri="{FF2B5EF4-FFF2-40B4-BE49-F238E27FC236}">
                <a16:creationId xmlns:a16="http://schemas.microsoft.com/office/drawing/2014/main" id="{AF7B7BE0-90EF-655F-BBDE-581C0F425E8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2976910"/>
              </p:ext>
            </p:extLst>
          </p:nvPr>
        </p:nvGraphicFramePr>
        <p:xfrm>
          <a:off x="6172200" y="1825625"/>
          <a:ext cx="5181595" cy="4351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319">
                  <a:extLst>
                    <a:ext uri="{9D8B030D-6E8A-4147-A177-3AD203B41FA5}">
                      <a16:colId xmlns:a16="http://schemas.microsoft.com/office/drawing/2014/main" val="309005114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135639431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54211336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4144159275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2192173955"/>
                    </a:ext>
                  </a:extLst>
                </a:gridCol>
              </a:tblGrid>
              <a:tr h="8702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351337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748250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395619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03962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965273"/>
                  </a:ext>
                </a:extLst>
              </a:tr>
            </a:tbl>
          </a:graphicData>
        </a:graphic>
      </p:graphicFrame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01F5582-C894-E643-8383-6D56CB92F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/>
          <a:lstStyle/>
          <a:p>
            <a:r>
              <a:rPr lang="el-GR" altLang="ko-KR" dirty="0"/>
              <a:t>ε</a:t>
            </a:r>
            <a:r>
              <a:rPr lang="en-US" altLang="ko-KR" dirty="0"/>
              <a:t> </a:t>
            </a:r>
            <a:r>
              <a:rPr lang="ko-KR" altLang="en-US" dirty="0"/>
              <a:t>값을 사용한 직선 근사 유효판정 대신 해당 직선이 지나는 모든 셀이 </a:t>
            </a:r>
            <a:r>
              <a:rPr lang="en-US" altLang="ko-KR" dirty="0"/>
              <a:t>‘</a:t>
            </a:r>
            <a:r>
              <a:rPr lang="ko-KR" altLang="en-US" dirty="0"/>
              <a:t>보행가능</a:t>
            </a:r>
            <a:r>
              <a:rPr lang="en-US" altLang="ko-KR" dirty="0"/>
              <a:t>’</a:t>
            </a:r>
            <a:r>
              <a:rPr lang="ko-KR" altLang="en-US" dirty="0"/>
              <a:t>인지 판정</a:t>
            </a:r>
            <a:br>
              <a:rPr lang="en-US" altLang="ko-KR" dirty="0"/>
            </a:br>
            <a:r>
              <a:rPr lang="en-US" altLang="ko-KR" dirty="0"/>
              <a:t>(Supercover grid test)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EAE461E-7DD7-5770-78F8-318A12F46979}"/>
              </a:ext>
            </a:extLst>
          </p:cNvPr>
          <p:cNvCxnSpPr/>
          <p:nvPr/>
        </p:nvCxnSpPr>
        <p:spPr>
          <a:xfrm flipV="1">
            <a:off x="7700211" y="3120189"/>
            <a:ext cx="3152273" cy="1796716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712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23439-AAE1-82CE-A519-F0DF6639C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시도</a:t>
            </a:r>
            <a:r>
              <a:rPr lang="en-US" altLang="ko-KR" dirty="0"/>
              <a:t>: Douglas-</a:t>
            </a:r>
            <a:r>
              <a:rPr lang="en-US" altLang="ko-KR" dirty="0" err="1"/>
              <a:t>Peucker</a:t>
            </a:r>
            <a:r>
              <a:rPr lang="en-US" altLang="ko-KR" dirty="0"/>
              <a:t> 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0AB248-938D-A8A0-4F90-38320B56F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Path</a:t>
            </a:r>
            <a:r>
              <a:rPr lang="ko-KR" altLang="en-US" dirty="0"/>
              <a:t> </a:t>
            </a:r>
            <a:r>
              <a:rPr lang="en-US" altLang="ko-KR" dirty="0"/>
              <a:t>smoothing</a:t>
            </a:r>
            <a:r>
              <a:rPr lang="ko-KR" altLang="en-US" dirty="0"/>
              <a:t> 결과가 </a:t>
            </a:r>
            <a:br>
              <a:rPr lang="en-US" altLang="ko-KR" dirty="0"/>
            </a:br>
            <a:r>
              <a:rPr lang="ko-KR" altLang="en-US" dirty="0"/>
              <a:t>만족스럽지 못함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A51515-F149-5F4B-A176-661105C25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199" y="2862490"/>
            <a:ext cx="2733675" cy="36957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EFCD009-85AA-DB47-6074-1CC951A1D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584" y="1816104"/>
            <a:ext cx="5686527" cy="37145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37145F-6B93-0312-1A55-5D00DDEAABFC}"/>
              </a:ext>
            </a:extLst>
          </p:cNvPr>
          <p:cNvSpPr txBox="1"/>
          <p:nvPr/>
        </p:nvSpPr>
        <p:spPr>
          <a:xfrm>
            <a:off x="6861903" y="5530632"/>
            <a:ext cx="45897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경사로 옆면의 단차를 관통하는 것은 피했지만</a:t>
            </a:r>
            <a:br>
              <a:rPr lang="en-US" altLang="ko-KR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</a:br>
            <a:r>
              <a:rPr lang="ko-KR" altLang="en-US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불필요한 </a:t>
            </a:r>
            <a:r>
              <a:rPr lang="en-US" altLang="ko-KR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‘</a:t>
            </a:r>
            <a:r>
              <a:rPr lang="ko-KR" altLang="en-US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튀어나온 점</a:t>
            </a:r>
            <a:r>
              <a:rPr lang="en-US" altLang="ko-KR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’</a:t>
            </a:r>
            <a:r>
              <a:rPr lang="ko-KR" altLang="en-US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까지 보존되어 </a:t>
            </a:r>
            <a:br>
              <a:rPr lang="en-US" altLang="ko-KR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</a:br>
            <a:r>
              <a:rPr lang="ko-KR" altLang="en-US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기존 경로에서 크게 벗어나지 못하는 모습</a:t>
            </a:r>
          </a:p>
        </p:txBody>
      </p:sp>
    </p:spTree>
    <p:extLst>
      <p:ext uri="{BB962C8B-B14F-4D97-AF65-F5344CB8AC3E}">
        <p14:creationId xmlns:p14="http://schemas.microsoft.com/office/powerpoint/2010/main" val="2394892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B953F7-70F4-92FE-08E0-316B9F490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 시도</a:t>
            </a:r>
            <a:r>
              <a:rPr lang="en-US" altLang="ko-KR" dirty="0"/>
              <a:t>: Greedy way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ED9A0D-8776-1B77-7673-2F0973C64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시작점으로부터 가장 멀리 떨어진 </a:t>
            </a:r>
            <a:r>
              <a:rPr lang="en-US" altLang="ko-KR" dirty="0"/>
              <a:t>‘</a:t>
            </a:r>
            <a:r>
              <a:rPr lang="ko-KR" altLang="en-US" dirty="0"/>
              <a:t>가시성이 있는</a:t>
            </a:r>
            <a:r>
              <a:rPr lang="en-US" altLang="ko-KR" dirty="0"/>
              <a:t>’ waypoint</a:t>
            </a:r>
            <a:r>
              <a:rPr lang="ko-KR" altLang="en-US" dirty="0"/>
              <a:t>를 탐색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해당 구간을 직선으로 대체</a:t>
            </a:r>
            <a:endParaRPr lang="en-US" altLang="ko-KR" dirty="0"/>
          </a:p>
          <a:p>
            <a:r>
              <a:rPr lang="ko-KR" altLang="en-US" dirty="0"/>
              <a:t>직선의 유효성 판정에는 기존과 같이 </a:t>
            </a:r>
            <a:r>
              <a:rPr lang="en-US" altLang="ko-KR" dirty="0"/>
              <a:t>Supercover grid test</a:t>
            </a:r>
            <a:r>
              <a:rPr lang="ko-KR" altLang="en-US" dirty="0"/>
              <a:t>를 사용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그림과 같은 경우를 고려하여 </a:t>
            </a:r>
            <a:br>
              <a:rPr lang="en-US" altLang="ko-KR" dirty="0"/>
            </a:br>
            <a:r>
              <a:rPr lang="ko-KR" altLang="en-US" dirty="0"/>
              <a:t>역순으로 탐색 진행</a:t>
            </a:r>
            <a:endParaRPr lang="en-US" altLang="ko-KR" dirty="0"/>
          </a:p>
          <a:p>
            <a:pPr lvl="1"/>
            <a:r>
              <a:rPr lang="ko-KR" altLang="en-US" dirty="0"/>
              <a:t>앞에서부터 탐색하면 </a:t>
            </a:r>
            <a:r>
              <a:rPr lang="en-US" altLang="ko-KR" dirty="0"/>
              <a:t>smoothing</a:t>
            </a:r>
            <a:r>
              <a:rPr lang="ko-KR" altLang="en-US" dirty="0"/>
              <a:t>이 </a:t>
            </a:r>
            <a:br>
              <a:rPr lang="en-US" altLang="ko-KR" dirty="0"/>
            </a:br>
            <a:r>
              <a:rPr lang="ko-KR" altLang="en-US" dirty="0"/>
              <a:t>덜 이루어질 수 있음</a:t>
            </a:r>
            <a:endParaRPr lang="en-US" altLang="ko-KR" dirty="0"/>
          </a:p>
          <a:p>
            <a:pPr lvl="1"/>
            <a:r>
              <a:rPr lang="ko-KR" altLang="en-US" dirty="0"/>
              <a:t>대신 평균 </a:t>
            </a:r>
            <a:r>
              <a:rPr lang="ko-KR" altLang="en-US" dirty="0" err="1"/>
              <a:t>연산량은</a:t>
            </a:r>
            <a:r>
              <a:rPr lang="ko-KR" altLang="en-US" dirty="0"/>
              <a:t> 증가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D3D5D9-7182-6235-850D-821D6AA30D4D}"/>
              </a:ext>
            </a:extLst>
          </p:cNvPr>
          <p:cNvSpPr/>
          <p:nvPr/>
        </p:nvSpPr>
        <p:spPr>
          <a:xfrm>
            <a:off x="8097252" y="4060075"/>
            <a:ext cx="3256548" cy="35952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B723010-8AB7-799E-2F47-5F80FDE65DB4}"/>
              </a:ext>
            </a:extLst>
          </p:cNvPr>
          <p:cNvSpPr/>
          <p:nvPr/>
        </p:nvSpPr>
        <p:spPr>
          <a:xfrm>
            <a:off x="8097252" y="5563962"/>
            <a:ext cx="3256548" cy="35952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DA5BEDEA-F34F-55A4-6E5F-E1593DDBCB8B}"/>
              </a:ext>
            </a:extLst>
          </p:cNvPr>
          <p:cNvSpPr/>
          <p:nvPr/>
        </p:nvSpPr>
        <p:spPr>
          <a:xfrm>
            <a:off x="7481780" y="4044473"/>
            <a:ext cx="4243711" cy="1952409"/>
          </a:xfrm>
          <a:custGeom>
            <a:avLst/>
            <a:gdLst>
              <a:gd name="csX0" fmla="*/ 0 w 4668252"/>
              <a:gd name="csY0" fmla="*/ 2679031 h 2679031"/>
              <a:gd name="csX1" fmla="*/ 834189 w 4668252"/>
              <a:gd name="csY1" fmla="*/ 2077452 h 2679031"/>
              <a:gd name="csX2" fmla="*/ 866273 w 4668252"/>
              <a:gd name="csY2" fmla="*/ 1507958 h 2679031"/>
              <a:gd name="csX3" fmla="*/ 3360821 w 4668252"/>
              <a:gd name="csY3" fmla="*/ 1532021 h 2679031"/>
              <a:gd name="csX4" fmla="*/ 4668252 w 4668252"/>
              <a:gd name="csY4" fmla="*/ 0 h 2679031"/>
              <a:gd name="csX0" fmla="*/ 0 w 4668252"/>
              <a:gd name="csY0" fmla="*/ 2679031 h 2679031"/>
              <a:gd name="csX1" fmla="*/ 834189 w 4668252"/>
              <a:gd name="csY1" fmla="*/ 2077452 h 2679031"/>
              <a:gd name="csX2" fmla="*/ 866273 w 4668252"/>
              <a:gd name="csY2" fmla="*/ 1507958 h 2679031"/>
              <a:gd name="csX3" fmla="*/ 3360821 w 4668252"/>
              <a:gd name="csY3" fmla="*/ 1532021 h 2679031"/>
              <a:gd name="csX4" fmla="*/ 4668252 w 4668252"/>
              <a:gd name="csY4" fmla="*/ 0 h 2679031"/>
              <a:gd name="csX0" fmla="*/ 0 w 4668252"/>
              <a:gd name="csY0" fmla="*/ 2679031 h 2679031"/>
              <a:gd name="csX1" fmla="*/ 834189 w 4668252"/>
              <a:gd name="csY1" fmla="*/ 2077452 h 2679031"/>
              <a:gd name="csX2" fmla="*/ 866273 w 4668252"/>
              <a:gd name="csY2" fmla="*/ 1507958 h 2679031"/>
              <a:gd name="csX3" fmla="*/ 3360821 w 4668252"/>
              <a:gd name="csY3" fmla="*/ 1532021 h 2679031"/>
              <a:gd name="csX4" fmla="*/ 4668252 w 4668252"/>
              <a:gd name="csY4" fmla="*/ 0 h 2679031"/>
              <a:gd name="csX0" fmla="*/ 0 w 4668252"/>
              <a:gd name="csY0" fmla="*/ 2679031 h 2679031"/>
              <a:gd name="csX1" fmla="*/ 834189 w 4668252"/>
              <a:gd name="csY1" fmla="*/ 2077452 h 2679031"/>
              <a:gd name="csX2" fmla="*/ 866273 w 4668252"/>
              <a:gd name="csY2" fmla="*/ 1507958 h 2679031"/>
              <a:gd name="csX3" fmla="*/ 3360821 w 4668252"/>
              <a:gd name="csY3" fmla="*/ 1532021 h 2679031"/>
              <a:gd name="csX4" fmla="*/ 4668252 w 4668252"/>
              <a:gd name="csY4" fmla="*/ 0 h 2679031"/>
              <a:gd name="csX0" fmla="*/ 0 w 4668252"/>
              <a:gd name="csY0" fmla="*/ 2679031 h 2679031"/>
              <a:gd name="csX1" fmla="*/ 834189 w 4668252"/>
              <a:gd name="csY1" fmla="*/ 2077452 h 2679031"/>
              <a:gd name="csX2" fmla="*/ 866273 w 4668252"/>
              <a:gd name="csY2" fmla="*/ 1507958 h 2679031"/>
              <a:gd name="csX3" fmla="*/ 3360821 w 4668252"/>
              <a:gd name="csY3" fmla="*/ 1532021 h 2679031"/>
              <a:gd name="csX4" fmla="*/ 4668252 w 4668252"/>
              <a:gd name="csY4" fmla="*/ 0 h 2679031"/>
              <a:gd name="csX0" fmla="*/ 0 w 4668252"/>
              <a:gd name="csY0" fmla="*/ 2679031 h 2679031"/>
              <a:gd name="csX1" fmla="*/ 834189 w 4668252"/>
              <a:gd name="csY1" fmla="*/ 2077452 h 2679031"/>
              <a:gd name="csX2" fmla="*/ 866273 w 4668252"/>
              <a:gd name="csY2" fmla="*/ 1507958 h 2679031"/>
              <a:gd name="csX3" fmla="*/ 3360821 w 4668252"/>
              <a:gd name="csY3" fmla="*/ 1532021 h 2679031"/>
              <a:gd name="csX4" fmla="*/ 4668252 w 4668252"/>
              <a:gd name="csY4" fmla="*/ 0 h 2679031"/>
              <a:gd name="csX0" fmla="*/ 0 w 4668252"/>
              <a:gd name="csY0" fmla="*/ 2679031 h 2679031"/>
              <a:gd name="csX1" fmla="*/ 834189 w 4668252"/>
              <a:gd name="csY1" fmla="*/ 2077452 h 2679031"/>
              <a:gd name="csX2" fmla="*/ 866273 w 4668252"/>
              <a:gd name="csY2" fmla="*/ 1507958 h 2679031"/>
              <a:gd name="csX3" fmla="*/ 3360821 w 4668252"/>
              <a:gd name="csY3" fmla="*/ 1532021 h 2679031"/>
              <a:gd name="csX4" fmla="*/ 4668252 w 4668252"/>
              <a:gd name="csY4" fmla="*/ 0 h 2679031"/>
              <a:gd name="csX0" fmla="*/ 0 w 4668252"/>
              <a:gd name="csY0" fmla="*/ 2679031 h 2679031"/>
              <a:gd name="csX1" fmla="*/ 834189 w 4668252"/>
              <a:gd name="csY1" fmla="*/ 2077452 h 2679031"/>
              <a:gd name="csX2" fmla="*/ 866273 w 4668252"/>
              <a:gd name="csY2" fmla="*/ 1507958 h 2679031"/>
              <a:gd name="csX3" fmla="*/ 3360821 w 4668252"/>
              <a:gd name="csY3" fmla="*/ 1532021 h 2679031"/>
              <a:gd name="csX4" fmla="*/ 4668252 w 4668252"/>
              <a:gd name="csY4" fmla="*/ 0 h 2679031"/>
              <a:gd name="csX0" fmla="*/ 0 w 4668252"/>
              <a:gd name="csY0" fmla="*/ 2679031 h 2679031"/>
              <a:gd name="csX1" fmla="*/ 882316 w 4668252"/>
              <a:gd name="csY1" fmla="*/ 2029326 h 2679031"/>
              <a:gd name="csX2" fmla="*/ 866273 w 4668252"/>
              <a:gd name="csY2" fmla="*/ 1507958 h 2679031"/>
              <a:gd name="csX3" fmla="*/ 3360821 w 4668252"/>
              <a:gd name="csY3" fmla="*/ 1532021 h 2679031"/>
              <a:gd name="csX4" fmla="*/ 4668252 w 4668252"/>
              <a:gd name="csY4" fmla="*/ 0 h 2679031"/>
              <a:gd name="csX0" fmla="*/ 0 w 4668252"/>
              <a:gd name="csY0" fmla="*/ 2679031 h 2679031"/>
              <a:gd name="csX1" fmla="*/ 882316 w 4668252"/>
              <a:gd name="csY1" fmla="*/ 2029326 h 2679031"/>
              <a:gd name="csX2" fmla="*/ 898357 w 4668252"/>
              <a:gd name="csY2" fmla="*/ 1483894 h 2679031"/>
              <a:gd name="csX3" fmla="*/ 3360821 w 4668252"/>
              <a:gd name="csY3" fmla="*/ 1532021 h 2679031"/>
              <a:gd name="csX4" fmla="*/ 4668252 w 4668252"/>
              <a:gd name="csY4" fmla="*/ 0 h 2679031"/>
              <a:gd name="csX0" fmla="*/ 0 w 4668252"/>
              <a:gd name="csY0" fmla="*/ 2679031 h 2679031"/>
              <a:gd name="csX1" fmla="*/ 882316 w 4668252"/>
              <a:gd name="csY1" fmla="*/ 2029326 h 2679031"/>
              <a:gd name="csX2" fmla="*/ 898357 w 4668252"/>
              <a:gd name="csY2" fmla="*/ 1483894 h 2679031"/>
              <a:gd name="csX3" fmla="*/ 3601452 w 4668252"/>
              <a:gd name="csY3" fmla="*/ 1499937 h 2679031"/>
              <a:gd name="csX4" fmla="*/ 4668252 w 4668252"/>
              <a:gd name="csY4" fmla="*/ 0 h 2679031"/>
              <a:gd name="csX0" fmla="*/ 0 w 4668252"/>
              <a:gd name="csY0" fmla="*/ 2679031 h 2679031"/>
              <a:gd name="csX1" fmla="*/ 882316 w 4668252"/>
              <a:gd name="csY1" fmla="*/ 2029326 h 2679031"/>
              <a:gd name="csX2" fmla="*/ 898357 w 4668252"/>
              <a:gd name="csY2" fmla="*/ 1483894 h 2679031"/>
              <a:gd name="csX3" fmla="*/ 3601452 w 4668252"/>
              <a:gd name="csY3" fmla="*/ 1499937 h 2679031"/>
              <a:gd name="csX4" fmla="*/ 4668252 w 4668252"/>
              <a:gd name="csY4" fmla="*/ 0 h 2679031"/>
              <a:gd name="csX0" fmla="*/ 0 w 4668252"/>
              <a:gd name="csY0" fmla="*/ 2679031 h 2679031"/>
              <a:gd name="csX1" fmla="*/ 882316 w 4668252"/>
              <a:gd name="csY1" fmla="*/ 2029326 h 2679031"/>
              <a:gd name="csX2" fmla="*/ 898357 w 4668252"/>
              <a:gd name="csY2" fmla="*/ 1483894 h 2679031"/>
              <a:gd name="csX3" fmla="*/ 3601452 w 4668252"/>
              <a:gd name="csY3" fmla="*/ 1499937 h 2679031"/>
              <a:gd name="csX4" fmla="*/ 4668252 w 4668252"/>
              <a:gd name="csY4" fmla="*/ 0 h 2679031"/>
              <a:gd name="csX0" fmla="*/ 0 w 4668252"/>
              <a:gd name="csY0" fmla="*/ 2679031 h 2679031"/>
              <a:gd name="csX1" fmla="*/ 882316 w 4668252"/>
              <a:gd name="csY1" fmla="*/ 2029326 h 2679031"/>
              <a:gd name="csX2" fmla="*/ 874294 w 4668252"/>
              <a:gd name="csY2" fmla="*/ 1515978 h 2679031"/>
              <a:gd name="csX3" fmla="*/ 3601452 w 4668252"/>
              <a:gd name="csY3" fmla="*/ 1499937 h 2679031"/>
              <a:gd name="csX4" fmla="*/ 4668252 w 4668252"/>
              <a:gd name="csY4" fmla="*/ 0 h 2679031"/>
              <a:gd name="csX0" fmla="*/ 0 w 4668252"/>
              <a:gd name="csY0" fmla="*/ 2679031 h 2679031"/>
              <a:gd name="csX1" fmla="*/ 882316 w 4668252"/>
              <a:gd name="csY1" fmla="*/ 2029326 h 2679031"/>
              <a:gd name="csX2" fmla="*/ 874294 w 4668252"/>
              <a:gd name="csY2" fmla="*/ 1515978 h 2679031"/>
              <a:gd name="csX3" fmla="*/ 3601452 w 4668252"/>
              <a:gd name="csY3" fmla="*/ 1499937 h 2679031"/>
              <a:gd name="csX4" fmla="*/ 4668252 w 4668252"/>
              <a:gd name="csY4" fmla="*/ 0 h 2679031"/>
              <a:gd name="csX0" fmla="*/ 0 w 4668252"/>
              <a:gd name="csY0" fmla="*/ 2679031 h 2679031"/>
              <a:gd name="csX1" fmla="*/ 866274 w 4668252"/>
              <a:gd name="csY1" fmla="*/ 2037347 h 2679031"/>
              <a:gd name="csX2" fmla="*/ 874294 w 4668252"/>
              <a:gd name="csY2" fmla="*/ 1515978 h 2679031"/>
              <a:gd name="csX3" fmla="*/ 3601452 w 4668252"/>
              <a:gd name="csY3" fmla="*/ 1499937 h 2679031"/>
              <a:gd name="csX4" fmla="*/ 4668252 w 4668252"/>
              <a:gd name="csY4" fmla="*/ 0 h 2679031"/>
              <a:gd name="csX0" fmla="*/ 0 w 4668252"/>
              <a:gd name="csY0" fmla="*/ 2679031 h 2679031"/>
              <a:gd name="csX1" fmla="*/ 866274 w 4668252"/>
              <a:gd name="csY1" fmla="*/ 2037347 h 2679031"/>
              <a:gd name="csX2" fmla="*/ 874294 w 4668252"/>
              <a:gd name="csY2" fmla="*/ 1515978 h 2679031"/>
              <a:gd name="csX3" fmla="*/ 1684421 w 4668252"/>
              <a:gd name="csY3" fmla="*/ 1515979 h 2679031"/>
              <a:gd name="csX4" fmla="*/ 3601452 w 4668252"/>
              <a:gd name="csY4" fmla="*/ 1499937 h 2679031"/>
              <a:gd name="csX5" fmla="*/ 4668252 w 4668252"/>
              <a:gd name="csY5" fmla="*/ 0 h 2679031"/>
              <a:gd name="csX0" fmla="*/ 0 w 4668252"/>
              <a:gd name="csY0" fmla="*/ 2679031 h 2679031"/>
              <a:gd name="csX1" fmla="*/ 866274 w 4668252"/>
              <a:gd name="csY1" fmla="*/ 2037347 h 2679031"/>
              <a:gd name="csX2" fmla="*/ 874294 w 4668252"/>
              <a:gd name="csY2" fmla="*/ 1515978 h 2679031"/>
              <a:gd name="csX3" fmla="*/ 1684421 w 4668252"/>
              <a:gd name="csY3" fmla="*/ 1515979 h 2679031"/>
              <a:gd name="csX4" fmla="*/ 3601452 w 4668252"/>
              <a:gd name="csY4" fmla="*/ 1499937 h 2679031"/>
              <a:gd name="csX5" fmla="*/ 4668252 w 4668252"/>
              <a:gd name="csY5" fmla="*/ 0 h 2679031"/>
              <a:gd name="csX0" fmla="*/ 0 w 4668252"/>
              <a:gd name="csY0" fmla="*/ 2679031 h 2679031"/>
              <a:gd name="csX1" fmla="*/ 866274 w 4668252"/>
              <a:gd name="csY1" fmla="*/ 2037347 h 2679031"/>
              <a:gd name="csX2" fmla="*/ 874294 w 4668252"/>
              <a:gd name="csY2" fmla="*/ 1515978 h 2679031"/>
              <a:gd name="csX3" fmla="*/ 1684421 w 4668252"/>
              <a:gd name="csY3" fmla="*/ 1515979 h 2679031"/>
              <a:gd name="csX4" fmla="*/ 2037347 w 4668252"/>
              <a:gd name="csY4" fmla="*/ 1090863 h 2679031"/>
              <a:gd name="csX5" fmla="*/ 3601452 w 4668252"/>
              <a:gd name="csY5" fmla="*/ 1499937 h 2679031"/>
              <a:gd name="csX6" fmla="*/ 4668252 w 4668252"/>
              <a:gd name="csY6" fmla="*/ 0 h 2679031"/>
              <a:gd name="csX0" fmla="*/ 0 w 4668252"/>
              <a:gd name="csY0" fmla="*/ 2679031 h 2679031"/>
              <a:gd name="csX1" fmla="*/ 866274 w 4668252"/>
              <a:gd name="csY1" fmla="*/ 2037347 h 2679031"/>
              <a:gd name="csX2" fmla="*/ 874294 w 4668252"/>
              <a:gd name="csY2" fmla="*/ 1515978 h 2679031"/>
              <a:gd name="csX3" fmla="*/ 1684421 w 4668252"/>
              <a:gd name="csY3" fmla="*/ 1515979 h 2679031"/>
              <a:gd name="csX4" fmla="*/ 1692442 w 4668252"/>
              <a:gd name="csY4" fmla="*/ 521368 h 2679031"/>
              <a:gd name="csX5" fmla="*/ 3601452 w 4668252"/>
              <a:gd name="csY5" fmla="*/ 1499937 h 2679031"/>
              <a:gd name="csX6" fmla="*/ 4668252 w 4668252"/>
              <a:gd name="csY6" fmla="*/ 0 h 2679031"/>
              <a:gd name="csX0" fmla="*/ 0 w 4668252"/>
              <a:gd name="csY0" fmla="*/ 2679031 h 2679031"/>
              <a:gd name="csX1" fmla="*/ 866274 w 4668252"/>
              <a:gd name="csY1" fmla="*/ 2037347 h 2679031"/>
              <a:gd name="csX2" fmla="*/ 874294 w 4668252"/>
              <a:gd name="csY2" fmla="*/ 1515978 h 2679031"/>
              <a:gd name="csX3" fmla="*/ 1684421 w 4668252"/>
              <a:gd name="csY3" fmla="*/ 1515979 h 2679031"/>
              <a:gd name="csX4" fmla="*/ 1692442 w 4668252"/>
              <a:gd name="csY4" fmla="*/ 521368 h 2679031"/>
              <a:gd name="csX5" fmla="*/ 3601452 w 4668252"/>
              <a:gd name="csY5" fmla="*/ 1499937 h 2679031"/>
              <a:gd name="csX6" fmla="*/ 4668252 w 4668252"/>
              <a:gd name="csY6" fmla="*/ 0 h 2679031"/>
              <a:gd name="csX0" fmla="*/ 0 w 4668252"/>
              <a:gd name="csY0" fmla="*/ 2679031 h 2679031"/>
              <a:gd name="csX1" fmla="*/ 866274 w 4668252"/>
              <a:gd name="csY1" fmla="*/ 2037347 h 2679031"/>
              <a:gd name="csX2" fmla="*/ 874294 w 4668252"/>
              <a:gd name="csY2" fmla="*/ 1515978 h 2679031"/>
              <a:gd name="csX3" fmla="*/ 1684421 w 4668252"/>
              <a:gd name="csY3" fmla="*/ 1515979 h 2679031"/>
              <a:gd name="csX4" fmla="*/ 1692442 w 4668252"/>
              <a:gd name="csY4" fmla="*/ 521368 h 2679031"/>
              <a:gd name="csX5" fmla="*/ 3601452 w 4668252"/>
              <a:gd name="csY5" fmla="*/ 1499937 h 2679031"/>
              <a:gd name="csX6" fmla="*/ 4668252 w 4668252"/>
              <a:gd name="csY6" fmla="*/ 0 h 2679031"/>
              <a:gd name="csX0" fmla="*/ 0 w 4668252"/>
              <a:gd name="csY0" fmla="*/ 2679031 h 2679031"/>
              <a:gd name="csX1" fmla="*/ 866274 w 4668252"/>
              <a:gd name="csY1" fmla="*/ 2037347 h 2679031"/>
              <a:gd name="csX2" fmla="*/ 874294 w 4668252"/>
              <a:gd name="csY2" fmla="*/ 1515978 h 2679031"/>
              <a:gd name="csX3" fmla="*/ 1684421 w 4668252"/>
              <a:gd name="csY3" fmla="*/ 1515979 h 2679031"/>
              <a:gd name="csX4" fmla="*/ 1692442 w 4668252"/>
              <a:gd name="csY4" fmla="*/ 521368 h 2679031"/>
              <a:gd name="csX5" fmla="*/ 3601452 w 4668252"/>
              <a:gd name="csY5" fmla="*/ 1499937 h 2679031"/>
              <a:gd name="csX6" fmla="*/ 4668252 w 4668252"/>
              <a:gd name="csY6" fmla="*/ 0 h 2679031"/>
              <a:gd name="csX0" fmla="*/ 0 w 4831051"/>
              <a:gd name="csY0" fmla="*/ 2784522 h 2784522"/>
              <a:gd name="csX1" fmla="*/ 866274 w 4831051"/>
              <a:gd name="csY1" fmla="*/ 2142838 h 2784522"/>
              <a:gd name="csX2" fmla="*/ 874294 w 4831051"/>
              <a:gd name="csY2" fmla="*/ 1621469 h 2784522"/>
              <a:gd name="csX3" fmla="*/ 1684421 w 4831051"/>
              <a:gd name="csY3" fmla="*/ 1621470 h 2784522"/>
              <a:gd name="csX4" fmla="*/ 1692442 w 4831051"/>
              <a:gd name="csY4" fmla="*/ 626859 h 2784522"/>
              <a:gd name="csX5" fmla="*/ 4363452 w 4831051"/>
              <a:gd name="csY5" fmla="*/ 658944 h 2784522"/>
              <a:gd name="csX6" fmla="*/ 4668252 w 4831051"/>
              <a:gd name="csY6" fmla="*/ 105491 h 2784522"/>
              <a:gd name="csX0" fmla="*/ 0 w 4831051"/>
              <a:gd name="csY0" fmla="*/ 2784522 h 2784522"/>
              <a:gd name="csX1" fmla="*/ 866274 w 4831051"/>
              <a:gd name="csY1" fmla="*/ 2142838 h 2784522"/>
              <a:gd name="csX2" fmla="*/ 874294 w 4831051"/>
              <a:gd name="csY2" fmla="*/ 1621469 h 2784522"/>
              <a:gd name="csX3" fmla="*/ 1684421 w 4831051"/>
              <a:gd name="csY3" fmla="*/ 1621470 h 2784522"/>
              <a:gd name="csX4" fmla="*/ 1692442 w 4831051"/>
              <a:gd name="csY4" fmla="*/ 626859 h 2784522"/>
              <a:gd name="csX5" fmla="*/ 4363452 w 4831051"/>
              <a:gd name="csY5" fmla="*/ 658944 h 2784522"/>
              <a:gd name="csX6" fmla="*/ 4668252 w 4831051"/>
              <a:gd name="csY6" fmla="*/ 105491 h 2784522"/>
              <a:gd name="csX0" fmla="*/ 0 w 4886127"/>
              <a:gd name="csY0" fmla="*/ 3266859 h 3266859"/>
              <a:gd name="csX1" fmla="*/ 866274 w 4886127"/>
              <a:gd name="csY1" fmla="*/ 2625175 h 3266859"/>
              <a:gd name="csX2" fmla="*/ 874294 w 4886127"/>
              <a:gd name="csY2" fmla="*/ 2103806 h 3266859"/>
              <a:gd name="csX3" fmla="*/ 1684421 w 4886127"/>
              <a:gd name="csY3" fmla="*/ 2103807 h 3266859"/>
              <a:gd name="csX4" fmla="*/ 1692442 w 4886127"/>
              <a:gd name="csY4" fmla="*/ 1109196 h 3266859"/>
              <a:gd name="csX5" fmla="*/ 4363452 w 4886127"/>
              <a:gd name="csY5" fmla="*/ 1141281 h 3266859"/>
              <a:gd name="csX6" fmla="*/ 4856031 w 4886127"/>
              <a:gd name="csY6" fmla="*/ 0 h 3266859"/>
              <a:gd name="csX0" fmla="*/ 0 w 4856031"/>
              <a:gd name="csY0" fmla="*/ 3266859 h 3266859"/>
              <a:gd name="csX1" fmla="*/ 866274 w 4856031"/>
              <a:gd name="csY1" fmla="*/ 2625175 h 3266859"/>
              <a:gd name="csX2" fmla="*/ 874294 w 4856031"/>
              <a:gd name="csY2" fmla="*/ 2103806 h 3266859"/>
              <a:gd name="csX3" fmla="*/ 1684421 w 4856031"/>
              <a:gd name="csY3" fmla="*/ 2103807 h 3266859"/>
              <a:gd name="csX4" fmla="*/ 1692442 w 4856031"/>
              <a:gd name="csY4" fmla="*/ 1109196 h 3266859"/>
              <a:gd name="csX5" fmla="*/ 4363452 w 4856031"/>
              <a:gd name="csY5" fmla="*/ 1141281 h 3266859"/>
              <a:gd name="csX6" fmla="*/ 4856031 w 4856031"/>
              <a:gd name="csY6" fmla="*/ 0 h 3266859"/>
              <a:gd name="csX0" fmla="*/ 0 w 4905017"/>
              <a:gd name="csY0" fmla="*/ 3217873 h 3217873"/>
              <a:gd name="csX1" fmla="*/ 866274 w 4905017"/>
              <a:gd name="csY1" fmla="*/ 2576189 h 3217873"/>
              <a:gd name="csX2" fmla="*/ 874294 w 4905017"/>
              <a:gd name="csY2" fmla="*/ 2054820 h 3217873"/>
              <a:gd name="csX3" fmla="*/ 1684421 w 4905017"/>
              <a:gd name="csY3" fmla="*/ 2054821 h 3217873"/>
              <a:gd name="csX4" fmla="*/ 1692442 w 4905017"/>
              <a:gd name="csY4" fmla="*/ 1060210 h 3217873"/>
              <a:gd name="csX5" fmla="*/ 4363452 w 4905017"/>
              <a:gd name="csY5" fmla="*/ 1092295 h 3217873"/>
              <a:gd name="csX6" fmla="*/ 4905017 w 4905017"/>
              <a:gd name="csY6" fmla="*/ 0 h 3217873"/>
              <a:gd name="csX0" fmla="*/ 0 w 4905017"/>
              <a:gd name="csY0" fmla="*/ 3217873 h 3217873"/>
              <a:gd name="csX1" fmla="*/ 866274 w 4905017"/>
              <a:gd name="csY1" fmla="*/ 2576189 h 3217873"/>
              <a:gd name="csX2" fmla="*/ 874294 w 4905017"/>
              <a:gd name="csY2" fmla="*/ 2054820 h 3217873"/>
              <a:gd name="csX3" fmla="*/ 1684421 w 4905017"/>
              <a:gd name="csY3" fmla="*/ 2054821 h 3217873"/>
              <a:gd name="csX4" fmla="*/ 1692442 w 4905017"/>
              <a:gd name="csY4" fmla="*/ 1060210 h 3217873"/>
              <a:gd name="csX5" fmla="*/ 4363452 w 4905017"/>
              <a:gd name="csY5" fmla="*/ 1092295 h 3217873"/>
              <a:gd name="csX6" fmla="*/ 4905017 w 4905017"/>
              <a:gd name="csY6" fmla="*/ 0 h 3217873"/>
              <a:gd name="csX0" fmla="*/ 0 w 4905017"/>
              <a:gd name="csY0" fmla="*/ 3217873 h 3217873"/>
              <a:gd name="csX1" fmla="*/ 866274 w 4905017"/>
              <a:gd name="csY1" fmla="*/ 2576189 h 3217873"/>
              <a:gd name="csX2" fmla="*/ 874294 w 4905017"/>
              <a:gd name="csY2" fmla="*/ 2054820 h 3217873"/>
              <a:gd name="csX3" fmla="*/ 1210892 w 4905017"/>
              <a:gd name="csY3" fmla="*/ 2062985 h 3217873"/>
              <a:gd name="csX4" fmla="*/ 1692442 w 4905017"/>
              <a:gd name="csY4" fmla="*/ 1060210 h 3217873"/>
              <a:gd name="csX5" fmla="*/ 4363452 w 4905017"/>
              <a:gd name="csY5" fmla="*/ 1092295 h 3217873"/>
              <a:gd name="csX6" fmla="*/ 4905017 w 4905017"/>
              <a:gd name="csY6" fmla="*/ 0 h 3217873"/>
              <a:gd name="csX0" fmla="*/ 0 w 4905017"/>
              <a:gd name="csY0" fmla="*/ 3217873 h 3217873"/>
              <a:gd name="csX1" fmla="*/ 866274 w 4905017"/>
              <a:gd name="csY1" fmla="*/ 2576189 h 3217873"/>
              <a:gd name="csX2" fmla="*/ 874294 w 4905017"/>
              <a:gd name="csY2" fmla="*/ 2054820 h 3217873"/>
              <a:gd name="csX3" fmla="*/ 1210892 w 4905017"/>
              <a:gd name="csY3" fmla="*/ 2062985 h 3217873"/>
              <a:gd name="csX4" fmla="*/ 1692442 w 4905017"/>
              <a:gd name="csY4" fmla="*/ 1060210 h 3217873"/>
              <a:gd name="csX5" fmla="*/ 4363452 w 4905017"/>
              <a:gd name="csY5" fmla="*/ 1092295 h 3217873"/>
              <a:gd name="csX6" fmla="*/ 4905017 w 4905017"/>
              <a:gd name="csY6" fmla="*/ 0 h 3217873"/>
              <a:gd name="csX0" fmla="*/ 0 w 4905017"/>
              <a:gd name="csY0" fmla="*/ 3217873 h 3217873"/>
              <a:gd name="csX1" fmla="*/ 866274 w 4905017"/>
              <a:gd name="csY1" fmla="*/ 2576189 h 3217873"/>
              <a:gd name="csX2" fmla="*/ 874294 w 4905017"/>
              <a:gd name="csY2" fmla="*/ 2054820 h 3217873"/>
              <a:gd name="csX3" fmla="*/ 1210892 w 4905017"/>
              <a:gd name="csY3" fmla="*/ 2062985 h 3217873"/>
              <a:gd name="csX4" fmla="*/ 1692442 w 4905017"/>
              <a:gd name="csY4" fmla="*/ 1060210 h 3217873"/>
              <a:gd name="csX5" fmla="*/ 4363452 w 4905017"/>
              <a:gd name="csY5" fmla="*/ 1092295 h 3217873"/>
              <a:gd name="csX6" fmla="*/ 4905017 w 4905017"/>
              <a:gd name="csY6" fmla="*/ 0 h 3217873"/>
              <a:gd name="csX0" fmla="*/ 0 w 4905017"/>
              <a:gd name="csY0" fmla="*/ 3217873 h 3217873"/>
              <a:gd name="csX1" fmla="*/ 866274 w 4905017"/>
              <a:gd name="csY1" fmla="*/ 2576189 h 3217873"/>
              <a:gd name="csX2" fmla="*/ 874294 w 4905017"/>
              <a:gd name="csY2" fmla="*/ 2054820 h 3217873"/>
              <a:gd name="csX3" fmla="*/ 1210892 w 4905017"/>
              <a:gd name="csY3" fmla="*/ 2062985 h 3217873"/>
              <a:gd name="csX4" fmla="*/ 1708771 w 4905017"/>
              <a:gd name="csY4" fmla="*/ 1052046 h 3217873"/>
              <a:gd name="csX5" fmla="*/ 4363452 w 4905017"/>
              <a:gd name="csY5" fmla="*/ 1092295 h 3217873"/>
              <a:gd name="csX6" fmla="*/ 4905017 w 4905017"/>
              <a:gd name="csY6" fmla="*/ 0 h 3217873"/>
              <a:gd name="csX0" fmla="*/ 0 w 4905017"/>
              <a:gd name="csY0" fmla="*/ 3217873 h 3217873"/>
              <a:gd name="csX1" fmla="*/ 866274 w 4905017"/>
              <a:gd name="csY1" fmla="*/ 2576189 h 3217873"/>
              <a:gd name="csX2" fmla="*/ 874294 w 4905017"/>
              <a:gd name="csY2" fmla="*/ 2054820 h 3217873"/>
              <a:gd name="csX3" fmla="*/ 1210892 w 4905017"/>
              <a:gd name="csY3" fmla="*/ 2062985 h 3217873"/>
              <a:gd name="csX4" fmla="*/ 1343813 w 4905017"/>
              <a:gd name="csY4" fmla="*/ 1474585 h 3217873"/>
              <a:gd name="csX5" fmla="*/ 1708771 w 4905017"/>
              <a:gd name="csY5" fmla="*/ 1052046 h 3217873"/>
              <a:gd name="csX6" fmla="*/ 4363452 w 4905017"/>
              <a:gd name="csY6" fmla="*/ 1092295 h 3217873"/>
              <a:gd name="csX7" fmla="*/ 4905017 w 4905017"/>
              <a:gd name="csY7" fmla="*/ 0 h 3217873"/>
              <a:gd name="csX0" fmla="*/ 0 w 4905017"/>
              <a:gd name="csY0" fmla="*/ 3217873 h 3217873"/>
              <a:gd name="csX1" fmla="*/ 866274 w 4905017"/>
              <a:gd name="csY1" fmla="*/ 2576189 h 3217873"/>
              <a:gd name="csX2" fmla="*/ 874294 w 4905017"/>
              <a:gd name="csY2" fmla="*/ 2054820 h 3217873"/>
              <a:gd name="csX3" fmla="*/ 1210892 w 4905017"/>
              <a:gd name="csY3" fmla="*/ 2062985 h 3217873"/>
              <a:gd name="csX4" fmla="*/ 1343813 w 4905017"/>
              <a:gd name="csY4" fmla="*/ 1474585 h 3217873"/>
              <a:gd name="csX5" fmla="*/ 1708771 w 4905017"/>
              <a:gd name="csY5" fmla="*/ 1052046 h 3217873"/>
              <a:gd name="csX6" fmla="*/ 4363452 w 4905017"/>
              <a:gd name="csY6" fmla="*/ 1092295 h 3217873"/>
              <a:gd name="csX7" fmla="*/ 4905017 w 4905017"/>
              <a:gd name="csY7" fmla="*/ 0 h 3217873"/>
              <a:gd name="csX0" fmla="*/ 0 w 4905017"/>
              <a:gd name="csY0" fmla="*/ 3217873 h 3217873"/>
              <a:gd name="csX1" fmla="*/ 866274 w 4905017"/>
              <a:gd name="csY1" fmla="*/ 2576189 h 3217873"/>
              <a:gd name="csX2" fmla="*/ 874294 w 4905017"/>
              <a:gd name="csY2" fmla="*/ 2054820 h 3217873"/>
              <a:gd name="csX3" fmla="*/ 1210892 w 4905017"/>
              <a:gd name="csY3" fmla="*/ 2062985 h 3217873"/>
              <a:gd name="csX4" fmla="*/ 1205020 w 4905017"/>
              <a:gd name="csY4" fmla="*/ 1629707 h 3217873"/>
              <a:gd name="csX5" fmla="*/ 1708771 w 4905017"/>
              <a:gd name="csY5" fmla="*/ 1052046 h 3217873"/>
              <a:gd name="csX6" fmla="*/ 4363452 w 4905017"/>
              <a:gd name="csY6" fmla="*/ 1092295 h 3217873"/>
              <a:gd name="csX7" fmla="*/ 4905017 w 4905017"/>
              <a:gd name="csY7" fmla="*/ 0 h 3217873"/>
              <a:gd name="csX0" fmla="*/ 0 w 4905017"/>
              <a:gd name="csY0" fmla="*/ 3217873 h 3217873"/>
              <a:gd name="csX1" fmla="*/ 866274 w 4905017"/>
              <a:gd name="csY1" fmla="*/ 2576189 h 3217873"/>
              <a:gd name="csX2" fmla="*/ 874294 w 4905017"/>
              <a:gd name="csY2" fmla="*/ 2054820 h 3217873"/>
              <a:gd name="csX3" fmla="*/ 1210892 w 4905017"/>
              <a:gd name="csY3" fmla="*/ 2062985 h 3217873"/>
              <a:gd name="csX4" fmla="*/ 1205020 w 4905017"/>
              <a:gd name="csY4" fmla="*/ 1629707 h 3217873"/>
              <a:gd name="csX5" fmla="*/ 1708771 w 4905017"/>
              <a:gd name="csY5" fmla="*/ 1052046 h 3217873"/>
              <a:gd name="csX6" fmla="*/ 4363452 w 4905017"/>
              <a:gd name="csY6" fmla="*/ 1092295 h 3217873"/>
              <a:gd name="csX7" fmla="*/ 4905017 w 4905017"/>
              <a:gd name="csY7" fmla="*/ 0 h 3217873"/>
              <a:gd name="csX0" fmla="*/ 0 w 4905017"/>
              <a:gd name="csY0" fmla="*/ 3217873 h 3217873"/>
              <a:gd name="csX1" fmla="*/ 866274 w 4905017"/>
              <a:gd name="csY1" fmla="*/ 2576189 h 3217873"/>
              <a:gd name="csX2" fmla="*/ 874294 w 4905017"/>
              <a:gd name="csY2" fmla="*/ 2054820 h 3217873"/>
              <a:gd name="csX3" fmla="*/ 1210892 w 4905017"/>
              <a:gd name="csY3" fmla="*/ 2062985 h 3217873"/>
              <a:gd name="csX4" fmla="*/ 1205020 w 4905017"/>
              <a:gd name="csY4" fmla="*/ 1629707 h 3217873"/>
              <a:gd name="csX5" fmla="*/ 1708771 w 4905017"/>
              <a:gd name="csY5" fmla="*/ 1052046 h 3217873"/>
              <a:gd name="csX6" fmla="*/ 4363452 w 4905017"/>
              <a:gd name="csY6" fmla="*/ 1092295 h 3217873"/>
              <a:gd name="csX7" fmla="*/ 4905017 w 4905017"/>
              <a:gd name="csY7" fmla="*/ 0 h 3217873"/>
              <a:gd name="csX0" fmla="*/ 0 w 4905017"/>
              <a:gd name="csY0" fmla="*/ 3217873 h 3217873"/>
              <a:gd name="csX1" fmla="*/ 866274 w 4905017"/>
              <a:gd name="csY1" fmla="*/ 2576189 h 3217873"/>
              <a:gd name="csX2" fmla="*/ 874294 w 4905017"/>
              <a:gd name="csY2" fmla="*/ 2054820 h 3217873"/>
              <a:gd name="csX3" fmla="*/ 1210892 w 4905017"/>
              <a:gd name="csY3" fmla="*/ 2062985 h 3217873"/>
              <a:gd name="csX4" fmla="*/ 1205020 w 4905017"/>
              <a:gd name="csY4" fmla="*/ 1629707 h 3217873"/>
              <a:gd name="csX5" fmla="*/ 1708771 w 4905017"/>
              <a:gd name="csY5" fmla="*/ 1052046 h 3217873"/>
              <a:gd name="csX6" fmla="*/ 4363452 w 4905017"/>
              <a:gd name="csY6" fmla="*/ 1092295 h 3217873"/>
              <a:gd name="csX7" fmla="*/ 4905017 w 4905017"/>
              <a:gd name="csY7" fmla="*/ 0 h 3217873"/>
              <a:gd name="csX0" fmla="*/ 0 w 4905017"/>
              <a:gd name="csY0" fmla="*/ 3217873 h 3217873"/>
              <a:gd name="csX1" fmla="*/ 866274 w 4905017"/>
              <a:gd name="csY1" fmla="*/ 2576189 h 3217873"/>
              <a:gd name="csX2" fmla="*/ 874294 w 4905017"/>
              <a:gd name="csY2" fmla="*/ 2054820 h 3217873"/>
              <a:gd name="csX3" fmla="*/ 1210892 w 4905017"/>
              <a:gd name="csY3" fmla="*/ 2062985 h 3217873"/>
              <a:gd name="csX4" fmla="*/ 1205020 w 4905017"/>
              <a:gd name="csY4" fmla="*/ 1629707 h 3217873"/>
              <a:gd name="csX5" fmla="*/ 1708771 w 4905017"/>
              <a:gd name="csY5" fmla="*/ 1052046 h 3217873"/>
              <a:gd name="csX6" fmla="*/ 4363452 w 4905017"/>
              <a:gd name="csY6" fmla="*/ 1092295 h 3217873"/>
              <a:gd name="csX7" fmla="*/ 4905017 w 4905017"/>
              <a:gd name="csY7" fmla="*/ 0 h 3217873"/>
              <a:gd name="csX0" fmla="*/ 0 w 4766224"/>
              <a:gd name="csY0" fmla="*/ 2703523 h 2703523"/>
              <a:gd name="csX1" fmla="*/ 727481 w 4766224"/>
              <a:gd name="csY1" fmla="*/ 2576189 h 2703523"/>
              <a:gd name="csX2" fmla="*/ 735501 w 4766224"/>
              <a:gd name="csY2" fmla="*/ 2054820 h 2703523"/>
              <a:gd name="csX3" fmla="*/ 1072099 w 4766224"/>
              <a:gd name="csY3" fmla="*/ 2062985 h 2703523"/>
              <a:gd name="csX4" fmla="*/ 1066227 w 4766224"/>
              <a:gd name="csY4" fmla="*/ 1629707 h 2703523"/>
              <a:gd name="csX5" fmla="*/ 1569978 w 4766224"/>
              <a:gd name="csY5" fmla="*/ 1052046 h 2703523"/>
              <a:gd name="csX6" fmla="*/ 4224659 w 4766224"/>
              <a:gd name="csY6" fmla="*/ 1092295 h 2703523"/>
              <a:gd name="csX7" fmla="*/ 4766224 w 4766224"/>
              <a:gd name="csY7" fmla="*/ 0 h 2703523"/>
              <a:gd name="csX0" fmla="*/ 0 w 4766224"/>
              <a:gd name="csY0" fmla="*/ 2703523 h 2703523"/>
              <a:gd name="csX1" fmla="*/ 727481 w 4766224"/>
              <a:gd name="csY1" fmla="*/ 2576189 h 2703523"/>
              <a:gd name="csX2" fmla="*/ 735501 w 4766224"/>
              <a:gd name="csY2" fmla="*/ 2054820 h 2703523"/>
              <a:gd name="csX3" fmla="*/ 1072099 w 4766224"/>
              <a:gd name="csY3" fmla="*/ 2062985 h 2703523"/>
              <a:gd name="csX4" fmla="*/ 1066227 w 4766224"/>
              <a:gd name="csY4" fmla="*/ 1629707 h 2703523"/>
              <a:gd name="csX5" fmla="*/ 1569978 w 4766224"/>
              <a:gd name="csY5" fmla="*/ 1052046 h 2703523"/>
              <a:gd name="csX6" fmla="*/ 4224659 w 4766224"/>
              <a:gd name="csY6" fmla="*/ 1092295 h 2703523"/>
              <a:gd name="csX7" fmla="*/ 4766224 w 4766224"/>
              <a:gd name="csY7" fmla="*/ 0 h 2703523"/>
              <a:gd name="csX0" fmla="*/ 0 w 4798881"/>
              <a:gd name="csY0" fmla="*/ 2646373 h 2665224"/>
              <a:gd name="csX1" fmla="*/ 760138 w 4798881"/>
              <a:gd name="csY1" fmla="*/ 2576189 h 2665224"/>
              <a:gd name="csX2" fmla="*/ 768158 w 4798881"/>
              <a:gd name="csY2" fmla="*/ 2054820 h 2665224"/>
              <a:gd name="csX3" fmla="*/ 1104756 w 4798881"/>
              <a:gd name="csY3" fmla="*/ 2062985 h 2665224"/>
              <a:gd name="csX4" fmla="*/ 1098884 w 4798881"/>
              <a:gd name="csY4" fmla="*/ 1629707 h 2665224"/>
              <a:gd name="csX5" fmla="*/ 1602635 w 4798881"/>
              <a:gd name="csY5" fmla="*/ 1052046 h 2665224"/>
              <a:gd name="csX6" fmla="*/ 4257316 w 4798881"/>
              <a:gd name="csY6" fmla="*/ 1092295 h 2665224"/>
              <a:gd name="csX7" fmla="*/ 4798881 w 4798881"/>
              <a:gd name="csY7" fmla="*/ 0 h 2665224"/>
              <a:gd name="csX0" fmla="*/ 0 w 4798881"/>
              <a:gd name="csY0" fmla="*/ 2646373 h 2678459"/>
              <a:gd name="csX1" fmla="*/ 760138 w 4798881"/>
              <a:gd name="csY1" fmla="*/ 2576189 h 2678459"/>
              <a:gd name="csX2" fmla="*/ 768158 w 4798881"/>
              <a:gd name="csY2" fmla="*/ 2054820 h 2678459"/>
              <a:gd name="csX3" fmla="*/ 1104756 w 4798881"/>
              <a:gd name="csY3" fmla="*/ 2062985 h 2678459"/>
              <a:gd name="csX4" fmla="*/ 1098884 w 4798881"/>
              <a:gd name="csY4" fmla="*/ 1629707 h 2678459"/>
              <a:gd name="csX5" fmla="*/ 1602635 w 4798881"/>
              <a:gd name="csY5" fmla="*/ 1052046 h 2678459"/>
              <a:gd name="csX6" fmla="*/ 4257316 w 4798881"/>
              <a:gd name="csY6" fmla="*/ 1092295 h 2678459"/>
              <a:gd name="csX7" fmla="*/ 4798881 w 4798881"/>
              <a:gd name="csY7" fmla="*/ 0 h 2678459"/>
              <a:gd name="csX0" fmla="*/ 0 w 4798881"/>
              <a:gd name="csY0" fmla="*/ 2646373 h 2646373"/>
              <a:gd name="csX1" fmla="*/ 760138 w 4798881"/>
              <a:gd name="csY1" fmla="*/ 2576189 h 2646373"/>
              <a:gd name="csX2" fmla="*/ 768158 w 4798881"/>
              <a:gd name="csY2" fmla="*/ 2054820 h 2646373"/>
              <a:gd name="csX3" fmla="*/ 1104756 w 4798881"/>
              <a:gd name="csY3" fmla="*/ 2062985 h 2646373"/>
              <a:gd name="csX4" fmla="*/ 1098884 w 4798881"/>
              <a:gd name="csY4" fmla="*/ 1629707 h 2646373"/>
              <a:gd name="csX5" fmla="*/ 1602635 w 4798881"/>
              <a:gd name="csY5" fmla="*/ 1052046 h 2646373"/>
              <a:gd name="csX6" fmla="*/ 4257316 w 4798881"/>
              <a:gd name="csY6" fmla="*/ 1092295 h 2646373"/>
              <a:gd name="csX7" fmla="*/ 4798881 w 4798881"/>
              <a:gd name="csY7" fmla="*/ 0 h 2646373"/>
              <a:gd name="csX0" fmla="*/ 0 w 4823374"/>
              <a:gd name="csY0" fmla="*/ 2581059 h 2590587"/>
              <a:gd name="csX1" fmla="*/ 784631 w 4823374"/>
              <a:gd name="csY1" fmla="*/ 2576189 h 2590587"/>
              <a:gd name="csX2" fmla="*/ 792651 w 4823374"/>
              <a:gd name="csY2" fmla="*/ 2054820 h 2590587"/>
              <a:gd name="csX3" fmla="*/ 1129249 w 4823374"/>
              <a:gd name="csY3" fmla="*/ 2062985 h 2590587"/>
              <a:gd name="csX4" fmla="*/ 1123377 w 4823374"/>
              <a:gd name="csY4" fmla="*/ 1629707 h 2590587"/>
              <a:gd name="csX5" fmla="*/ 1627128 w 4823374"/>
              <a:gd name="csY5" fmla="*/ 1052046 h 2590587"/>
              <a:gd name="csX6" fmla="*/ 4281809 w 4823374"/>
              <a:gd name="csY6" fmla="*/ 1092295 h 2590587"/>
              <a:gd name="csX7" fmla="*/ 4823374 w 4823374"/>
              <a:gd name="csY7" fmla="*/ 0 h 2590587"/>
              <a:gd name="csX0" fmla="*/ 0 w 4831538"/>
              <a:gd name="csY0" fmla="*/ 2630045 h 2630045"/>
              <a:gd name="csX1" fmla="*/ 792795 w 4831538"/>
              <a:gd name="csY1" fmla="*/ 2576189 h 2630045"/>
              <a:gd name="csX2" fmla="*/ 800815 w 4831538"/>
              <a:gd name="csY2" fmla="*/ 2054820 h 2630045"/>
              <a:gd name="csX3" fmla="*/ 1137413 w 4831538"/>
              <a:gd name="csY3" fmla="*/ 2062985 h 2630045"/>
              <a:gd name="csX4" fmla="*/ 1131541 w 4831538"/>
              <a:gd name="csY4" fmla="*/ 1629707 h 2630045"/>
              <a:gd name="csX5" fmla="*/ 1635292 w 4831538"/>
              <a:gd name="csY5" fmla="*/ 1052046 h 2630045"/>
              <a:gd name="csX6" fmla="*/ 4289973 w 4831538"/>
              <a:gd name="csY6" fmla="*/ 1092295 h 2630045"/>
              <a:gd name="csX7" fmla="*/ 4831538 w 4831538"/>
              <a:gd name="csY7" fmla="*/ 0 h 2630045"/>
              <a:gd name="csX0" fmla="*/ 0 w 4831538"/>
              <a:gd name="csY0" fmla="*/ 2630045 h 2630045"/>
              <a:gd name="csX1" fmla="*/ 792795 w 4831538"/>
              <a:gd name="csY1" fmla="*/ 2576189 h 2630045"/>
              <a:gd name="csX2" fmla="*/ 800815 w 4831538"/>
              <a:gd name="csY2" fmla="*/ 2054820 h 2630045"/>
              <a:gd name="csX3" fmla="*/ 1137413 w 4831538"/>
              <a:gd name="csY3" fmla="*/ 2062985 h 2630045"/>
              <a:gd name="csX4" fmla="*/ 1131541 w 4831538"/>
              <a:gd name="csY4" fmla="*/ 1629707 h 2630045"/>
              <a:gd name="csX5" fmla="*/ 1635292 w 4831538"/>
              <a:gd name="csY5" fmla="*/ 1052046 h 2630045"/>
              <a:gd name="csX6" fmla="*/ 4289973 w 4831538"/>
              <a:gd name="csY6" fmla="*/ 1092295 h 2630045"/>
              <a:gd name="csX7" fmla="*/ 4831538 w 4831538"/>
              <a:gd name="csY7" fmla="*/ 0 h 2630045"/>
              <a:gd name="csX0" fmla="*/ 0 w 4553953"/>
              <a:gd name="csY0" fmla="*/ 2597388 h 2597388"/>
              <a:gd name="csX1" fmla="*/ 515210 w 4553953"/>
              <a:gd name="csY1" fmla="*/ 2576189 h 2597388"/>
              <a:gd name="csX2" fmla="*/ 523230 w 4553953"/>
              <a:gd name="csY2" fmla="*/ 2054820 h 2597388"/>
              <a:gd name="csX3" fmla="*/ 859828 w 4553953"/>
              <a:gd name="csY3" fmla="*/ 2062985 h 2597388"/>
              <a:gd name="csX4" fmla="*/ 853956 w 4553953"/>
              <a:gd name="csY4" fmla="*/ 1629707 h 2597388"/>
              <a:gd name="csX5" fmla="*/ 1357707 w 4553953"/>
              <a:gd name="csY5" fmla="*/ 1052046 h 2597388"/>
              <a:gd name="csX6" fmla="*/ 4012388 w 4553953"/>
              <a:gd name="csY6" fmla="*/ 1092295 h 2597388"/>
              <a:gd name="csX7" fmla="*/ 4553953 w 4553953"/>
              <a:gd name="csY7" fmla="*/ 0 h 2597388"/>
              <a:gd name="csX0" fmla="*/ 0 w 4243711"/>
              <a:gd name="csY0" fmla="*/ 1952409 h 1952409"/>
              <a:gd name="csX1" fmla="*/ 515210 w 4243711"/>
              <a:gd name="csY1" fmla="*/ 1931210 h 1952409"/>
              <a:gd name="csX2" fmla="*/ 523230 w 4243711"/>
              <a:gd name="csY2" fmla="*/ 1409841 h 1952409"/>
              <a:gd name="csX3" fmla="*/ 859828 w 4243711"/>
              <a:gd name="csY3" fmla="*/ 1418006 h 1952409"/>
              <a:gd name="csX4" fmla="*/ 853956 w 4243711"/>
              <a:gd name="csY4" fmla="*/ 984728 h 1952409"/>
              <a:gd name="csX5" fmla="*/ 1357707 w 4243711"/>
              <a:gd name="csY5" fmla="*/ 407067 h 1952409"/>
              <a:gd name="csX6" fmla="*/ 4012388 w 4243711"/>
              <a:gd name="csY6" fmla="*/ 447316 h 1952409"/>
              <a:gd name="csX7" fmla="*/ 4243711 w 4243711"/>
              <a:gd name="csY7" fmla="*/ 0 h 1952409"/>
              <a:gd name="csX0" fmla="*/ 0 w 4243711"/>
              <a:gd name="csY0" fmla="*/ 1952409 h 1952409"/>
              <a:gd name="csX1" fmla="*/ 515210 w 4243711"/>
              <a:gd name="csY1" fmla="*/ 1931210 h 1952409"/>
              <a:gd name="csX2" fmla="*/ 523230 w 4243711"/>
              <a:gd name="csY2" fmla="*/ 1409841 h 1952409"/>
              <a:gd name="csX3" fmla="*/ 859828 w 4243711"/>
              <a:gd name="csY3" fmla="*/ 1418006 h 1952409"/>
              <a:gd name="csX4" fmla="*/ 853956 w 4243711"/>
              <a:gd name="csY4" fmla="*/ 984728 h 1952409"/>
              <a:gd name="csX5" fmla="*/ 1357707 w 4243711"/>
              <a:gd name="csY5" fmla="*/ 407067 h 1952409"/>
              <a:gd name="csX6" fmla="*/ 4012388 w 4243711"/>
              <a:gd name="csY6" fmla="*/ 447316 h 1952409"/>
              <a:gd name="csX7" fmla="*/ 4243711 w 4243711"/>
              <a:gd name="csY7" fmla="*/ 0 h 1952409"/>
              <a:gd name="csX0" fmla="*/ 0 w 4243711"/>
              <a:gd name="csY0" fmla="*/ 1952409 h 1952409"/>
              <a:gd name="csX1" fmla="*/ 515210 w 4243711"/>
              <a:gd name="csY1" fmla="*/ 1931210 h 1952409"/>
              <a:gd name="csX2" fmla="*/ 523230 w 4243711"/>
              <a:gd name="csY2" fmla="*/ 1409841 h 1952409"/>
              <a:gd name="csX3" fmla="*/ 859828 w 4243711"/>
              <a:gd name="csY3" fmla="*/ 1418006 h 1952409"/>
              <a:gd name="csX4" fmla="*/ 853956 w 4243711"/>
              <a:gd name="csY4" fmla="*/ 984728 h 1952409"/>
              <a:gd name="csX5" fmla="*/ 1357707 w 4243711"/>
              <a:gd name="csY5" fmla="*/ 407067 h 1952409"/>
              <a:gd name="csX6" fmla="*/ 4012388 w 4243711"/>
              <a:gd name="csY6" fmla="*/ 447316 h 1952409"/>
              <a:gd name="csX7" fmla="*/ 4243711 w 4243711"/>
              <a:gd name="csY7" fmla="*/ 0 h 19524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243711" h="1952409">
                <a:moveTo>
                  <a:pt x="0" y="1952409"/>
                </a:moveTo>
                <a:cubicBezTo>
                  <a:pt x="312248" y="1936987"/>
                  <a:pt x="256531" y="1971267"/>
                  <a:pt x="515210" y="1931210"/>
                </a:cubicBezTo>
                <a:cubicBezTo>
                  <a:pt x="531252" y="1383105"/>
                  <a:pt x="519220" y="1893778"/>
                  <a:pt x="523230" y="1409841"/>
                </a:cubicBezTo>
                <a:lnTo>
                  <a:pt x="859828" y="1418006"/>
                </a:lnTo>
                <a:cubicBezTo>
                  <a:pt x="864602" y="1198835"/>
                  <a:pt x="844454" y="1243025"/>
                  <a:pt x="853956" y="984728"/>
                </a:cubicBezTo>
                <a:cubicBezTo>
                  <a:pt x="1083893" y="718267"/>
                  <a:pt x="1083034" y="723875"/>
                  <a:pt x="1357707" y="407067"/>
                </a:cubicBezTo>
                <a:cubicBezTo>
                  <a:pt x="1677212" y="404393"/>
                  <a:pt x="3557575" y="474004"/>
                  <a:pt x="4012388" y="447316"/>
                </a:cubicBezTo>
                <a:cubicBezTo>
                  <a:pt x="4115658" y="242397"/>
                  <a:pt x="4161066" y="215805"/>
                  <a:pt x="4243711" y="0"/>
                </a:cubicBezTo>
              </a:path>
            </a:pathLst>
          </a:cu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0D68840-D1FE-4EDA-8FDA-7C2A8DBD5A41}"/>
              </a:ext>
            </a:extLst>
          </p:cNvPr>
          <p:cNvCxnSpPr>
            <a:cxnSpLocks/>
            <a:stCxn id="8" idx="0"/>
            <a:endCxn id="8" idx="3"/>
          </p:cNvCxnSpPr>
          <p:nvPr/>
        </p:nvCxnSpPr>
        <p:spPr>
          <a:xfrm flipV="1">
            <a:off x="7481780" y="5462479"/>
            <a:ext cx="859828" cy="53440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E7E302B-BDCE-0E4A-7678-FDD78E491763}"/>
              </a:ext>
            </a:extLst>
          </p:cNvPr>
          <p:cNvCxnSpPr>
            <a:cxnSpLocks/>
          </p:cNvCxnSpPr>
          <p:nvPr/>
        </p:nvCxnSpPr>
        <p:spPr>
          <a:xfrm flipV="1">
            <a:off x="7481780" y="4431131"/>
            <a:ext cx="1357707" cy="1545342"/>
          </a:xfrm>
          <a:prstGeom prst="line">
            <a:avLst/>
          </a:prstGeom>
          <a:ln w="285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281BE12-A3F7-8FAE-BD04-25A98B7725CD}"/>
              </a:ext>
            </a:extLst>
          </p:cNvPr>
          <p:cNvSpPr txBox="1"/>
          <p:nvPr/>
        </p:nvSpPr>
        <p:spPr>
          <a:xfrm>
            <a:off x="6564086" y="6188493"/>
            <a:ext cx="5225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■</a:t>
            </a:r>
            <a:r>
              <a:rPr lang="en-US" altLang="ko-KR" dirty="0"/>
              <a:t>: </a:t>
            </a:r>
            <a:r>
              <a:rPr lang="ko-KR" altLang="en-US" dirty="0"/>
              <a:t>경로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■</a:t>
            </a:r>
            <a:r>
              <a:rPr lang="en-US" altLang="ko-KR" dirty="0"/>
              <a:t>: </a:t>
            </a:r>
            <a:r>
              <a:rPr lang="ko-KR" altLang="en-US" dirty="0"/>
              <a:t>유효한 직선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FF0000"/>
                </a:solidFill>
              </a:rPr>
              <a:t>■</a:t>
            </a:r>
            <a:r>
              <a:rPr lang="en-US" altLang="ko-KR" dirty="0"/>
              <a:t>: </a:t>
            </a:r>
            <a:r>
              <a:rPr lang="ko-KR" altLang="en-US" dirty="0"/>
              <a:t>유효하지 않은 직선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37803B-1833-3137-A577-F571E98BE91B}"/>
              </a:ext>
            </a:extLst>
          </p:cNvPr>
          <p:cNvSpPr txBox="1"/>
          <p:nvPr/>
        </p:nvSpPr>
        <p:spPr>
          <a:xfrm>
            <a:off x="6828203" y="5787196"/>
            <a:ext cx="653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start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E256E6-1B82-EC66-1649-708D34147234}"/>
              </a:ext>
            </a:extLst>
          </p:cNvPr>
          <p:cNvSpPr txBox="1"/>
          <p:nvPr/>
        </p:nvSpPr>
        <p:spPr>
          <a:xfrm>
            <a:off x="11415957" y="3690743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end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46466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371C5-C611-6125-4E3F-EA8DEB186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 시도</a:t>
            </a:r>
            <a:r>
              <a:rPr lang="en-US" altLang="ko-KR" dirty="0"/>
              <a:t>: Greedy way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8D5FFF7-0C22-E3AE-F884-DFDC275FC2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43337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altLang="ko-KR" dirty="0"/>
                  <a:t>200m * 200m </a:t>
                </a:r>
                <a:r>
                  <a:rPr lang="ko-KR" altLang="en-US" dirty="0"/>
                  <a:t>영역에서 </a:t>
                </a:r>
                <a:r>
                  <a:rPr lang="ko-KR" altLang="en-US" dirty="0" err="1"/>
                  <a:t>길찾기</a:t>
                </a:r>
                <a:r>
                  <a:rPr lang="ko-KR" altLang="en-US" dirty="0"/>
                  <a:t> 수행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성능으로 충분할지 테스트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경로 탐색 </a:t>
                </a:r>
                <a:r>
                  <a:rPr lang="en-US" altLang="ko-KR" dirty="0"/>
                  <a:t>+ </a:t>
                </a:r>
                <a:r>
                  <a:rPr lang="ko-KR" altLang="en-US" dirty="0"/>
                  <a:t>경로</a:t>
                </a:r>
                <a:r>
                  <a:rPr lang="en-US" altLang="ko-KR" dirty="0"/>
                  <a:t> smoothing</a:t>
                </a:r>
                <a:r>
                  <a:rPr lang="ko-KR" altLang="en-US" dirty="0"/>
                  <a:t>에</a:t>
                </a:r>
                <a:br>
                  <a:rPr lang="en-US" altLang="ko-KR" dirty="0"/>
                </a:br>
                <a:r>
                  <a:rPr lang="ko-KR" altLang="en-US" dirty="0"/>
                  <a:t>약 </a:t>
                </a:r>
                <a:r>
                  <a:rPr lang="en-US" altLang="ko-KR" dirty="0"/>
                  <a:t>30ms </a:t>
                </a:r>
                <a:r>
                  <a:rPr lang="ko-KR" altLang="en-US" dirty="0"/>
                  <a:t>소요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다만</a:t>
                </a:r>
                <a:r>
                  <a:rPr lang="en-US" altLang="ko-KR" dirty="0"/>
                  <a:t>…</a:t>
                </a:r>
              </a:p>
              <a:p>
                <a:pPr lvl="1"/>
                <a:r>
                  <a:rPr lang="ko-KR" altLang="en-US" dirty="0"/>
                  <a:t>대부분의 경로 탐색은 이보다 짧음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말을 부르는 건 많아봐야 수초에 한 번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백그라운드 스레드로 분리하는 방법도 있음 </a:t>
                </a:r>
                <a:endParaRPr lang="en-US" altLang="ko-KR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8D5FFF7-0C22-E3AE-F884-DFDC275FC2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43337" cy="4351338"/>
              </a:xfrm>
              <a:blipFill>
                <a:blip r:embed="rId3"/>
                <a:stretch>
                  <a:fillRect l="-1670" t="-2101" r="-2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70728C35-85FF-FF1A-8F05-787F25520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101" y="1563100"/>
            <a:ext cx="5112205" cy="46138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20E4754-93A5-06F4-D99B-2FCE24FAF5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892" y="6439488"/>
            <a:ext cx="9712863" cy="2721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C4C528-A9B1-0923-4501-977157CD8B2B}"/>
              </a:ext>
            </a:extLst>
          </p:cNvPr>
          <p:cNvSpPr txBox="1"/>
          <p:nvPr/>
        </p:nvSpPr>
        <p:spPr>
          <a:xfrm>
            <a:off x="7806601" y="-4207"/>
            <a:ext cx="4376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수행 시간은 모두 </a:t>
            </a:r>
            <a:r>
              <a:rPr lang="en-US" altLang="ko-KR" dirty="0"/>
              <a:t>i9-12900K 3.2GHz</a:t>
            </a:r>
            <a:r>
              <a:rPr lang="ko-KR" altLang="en-US" dirty="0"/>
              <a:t>기준</a:t>
            </a:r>
          </a:p>
        </p:txBody>
      </p:sp>
    </p:spTree>
    <p:extLst>
      <p:ext uri="{BB962C8B-B14F-4D97-AF65-F5344CB8AC3E}">
        <p14:creationId xmlns:p14="http://schemas.microsoft.com/office/powerpoint/2010/main" val="2227503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344DC-4519-756E-1D04-7931F1214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 시도</a:t>
            </a:r>
            <a:r>
              <a:rPr lang="en-US" altLang="ko-KR" dirty="0"/>
              <a:t>: Greedy way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3C0A74-64D0-BF00-661F-3D468B808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실제로 통상적인 거리 내에서는 납득할 만한 성능</a:t>
            </a:r>
            <a:endParaRPr lang="en-US" altLang="ko-KR" dirty="0"/>
          </a:p>
          <a:p>
            <a:pPr lvl="1"/>
            <a:r>
              <a:rPr lang="en-US" altLang="ko-KR" dirty="0"/>
              <a:t>#1 </a:t>
            </a:r>
            <a:r>
              <a:rPr lang="ko-KR" altLang="en-US" dirty="0"/>
              <a:t>경로 평탄화에 유리한 경우</a:t>
            </a:r>
            <a:endParaRPr lang="en-US" altLang="ko-KR" dirty="0"/>
          </a:p>
          <a:p>
            <a:pPr lvl="2"/>
            <a:r>
              <a:rPr lang="ko-KR" altLang="en-US" dirty="0"/>
              <a:t>경로 길이</a:t>
            </a:r>
            <a:r>
              <a:rPr lang="en-US" altLang="ko-KR" dirty="0"/>
              <a:t> 728.8m, </a:t>
            </a:r>
            <a:r>
              <a:rPr lang="ko-KR" altLang="en-US" dirty="0"/>
              <a:t>점 </a:t>
            </a:r>
            <a:r>
              <a:rPr lang="en-US" altLang="ko-KR" dirty="0"/>
              <a:t>16</a:t>
            </a:r>
            <a:r>
              <a:rPr lang="ko-KR" altLang="en-US" dirty="0"/>
              <a:t>개로 평탄화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dirty="0" err="1"/>
              <a:t>길찾기</a:t>
            </a:r>
            <a:r>
              <a:rPr lang="ko-KR" altLang="en-US" dirty="0"/>
              <a:t> </a:t>
            </a:r>
            <a:r>
              <a:rPr lang="en-US" altLang="ko-KR" dirty="0"/>
              <a:t>3.905ms, </a:t>
            </a:r>
            <a:r>
              <a:rPr lang="ko-KR" altLang="en-US" dirty="0"/>
              <a:t>경로 평탄화 </a:t>
            </a:r>
            <a:r>
              <a:rPr lang="en-US" altLang="ko-KR" dirty="0"/>
              <a:t>2.654ms</a:t>
            </a:r>
            <a:br>
              <a:rPr lang="en-US" altLang="ko-KR" dirty="0"/>
            </a:br>
            <a:r>
              <a:rPr lang="ko-KR" altLang="en-US" dirty="0"/>
              <a:t>도합 </a:t>
            </a:r>
            <a:r>
              <a:rPr lang="en-US" altLang="ko-KR" dirty="0"/>
              <a:t>6.559ms</a:t>
            </a:r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#2 </a:t>
            </a:r>
            <a:r>
              <a:rPr lang="ko-KR" altLang="en-US" dirty="0"/>
              <a:t>경로 평탄화에 불리한 경우</a:t>
            </a:r>
            <a:r>
              <a:rPr lang="en-US" altLang="ko-KR" dirty="0"/>
              <a:t> (</a:t>
            </a:r>
            <a:r>
              <a:rPr lang="ko-KR" altLang="en-US" dirty="0"/>
              <a:t>시작점 근처에서 다수의 굴곡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경로 길이 </a:t>
            </a:r>
            <a:r>
              <a:rPr lang="en-US" altLang="ko-KR" dirty="0"/>
              <a:t>533.4m, </a:t>
            </a:r>
            <a:r>
              <a:rPr lang="ko-KR" altLang="en-US" dirty="0"/>
              <a:t>점 </a:t>
            </a:r>
            <a:r>
              <a:rPr lang="en-US" altLang="ko-KR" dirty="0"/>
              <a:t>36</a:t>
            </a:r>
            <a:r>
              <a:rPr lang="ko-KR" altLang="en-US" dirty="0"/>
              <a:t>개로 평탄화</a:t>
            </a:r>
            <a:endParaRPr lang="en-US" altLang="ko-KR" dirty="0"/>
          </a:p>
          <a:p>
            <a:pPr lvl="2"/>
            <a:r>
              <a:rPr lang="ko-KR" altLang="en-US" dirty="0" err="1"/>
              <a:t>길찾기</a:t>
            </a:r>
            <a:r>
              <a:rPr lang="ko-KR" altLang="en-US" dirty="0"/>
              <a:t> </a:t>
            </a:r>
            <a:r>
              <a:rPr lang="en-US" altLang="ko-KR" dirty="0"/>
              <a:t>2.911ms, </a:t>
            </a:r>
            <a:r>
              <a:rPr lang="ko-KR" altLang="en-US" dirty="0"/>
              <a:t>경로 평탄화 </a:t>
            </a:r>
            <a:r>
              <a:rPr lang="en-US" altLang="ko-KR" dirty="0"/>
              <a:t>2.286ms</a:t>
            </a:r>
            <a:br>
              <a:rPr lang="en-US" altLang="ko-KR" dirty="0"/>
            </a:br>
            <a:r>
              <a:rPr lang="ko-KR" altLang="en-US" dirty="0"/>
              <a:t>도합 </a:t>
            </a:r>
            <a:r>
              <a:rPr lang="en-US" altLang="ko-KR" dirty="0"/>
              <a:t>5.197ms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4BDE61-6B34-7D9D-2BA5-DD66AD4EAA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09" b="-22877"/>
          <a:stretch>
            <a:fillRect/>
          </a:stretch>
        </p:blipFill>
        <p:spPr>
          <a:xfrm>
            <a:off x="956996" y="4001294"/>
            <a:ext cx="10176225" cy="39424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A0C2C07-E966-90D0-4E6A-EC0DA2642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74" y="1293193"/>
            <a:ext cx="2986816" cy="270810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11D3E76-6D3C-CA88-862A-DCFA2DE916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300" y="6508645"/>
            <a:ext cx="9989400" cy="27705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C19EE55-B53B-E625-E8EE-44EE046ADD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4274" y="4865747"/>
            <a:ext cx="3581316" cy="162712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4C5A86-0BAC-FACB-3790-AF8111CBBDD4}"/>
              </a:ext>
            </a:extLst>
          </p:cNvPr>
          <p:cNvSpPr txBox="1"/>
          <p:nvPr/>
        </p:nvSpPr>
        <p:spPr>
          <a:xfrm>
            <a:off x="7806601" y="-4207"/>
            <a:ext cx="4376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수행 시간은 모두 </a:t>
            </a:r>
            <a:r>
              <a:rPr lang="en-US" altLang="ko-KR" dirty="0"/>
              <a:t>i9-12900K 3.2GHz</a:t>
            </a:r>
            <a:r>
              <a:rPr lang="ko-KR" altLang="en-US" dirty="0"/>
              <a:t>기준</a:t>
            </a:r>
          </a:p>
        </p:txBody>
      </p:sp>
    </p:spTree>
    <p:extLst>
      <p:ext uri="{BB962C8B-B14F-4D97-AF65-F5344CB8AC3E}">
        <p14:creationId xmlns:p14="http://schemas.microsoft.com/office/powerpoint/2010/main" val="5140579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E7075-A85D-E43C-6720-5B3AB3B5B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 계획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F6C47B35-B7CA-9C28-3805-F821AEBCDC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1542680"/>
              </p:ext>
            </p:extLst>
          </p:nvPr>
        </p:nvGraphicFramePr>
        <p:xfrm>
          <a:off x="838200" y="1825624"/>
          <a:ext cx="10515601" cy="4367907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954025">
                  <a:extLst>
                    <a:ext uri="{9D8B030D-6E8A-4147-A177-3AD203B41FA5}">
                      <a16:colId xmlns:a16="http://schemas.microsoft.com/office/drawing/2014/main" val="349038361"/>
                    </a:ext>
                  </a:extLst>
                </a:gridCol>
                <a:gridCol w="9561576">
                  <a:extLst>
                    <a:ext uri="{9D8B030D-6E8A-4147-A177-3AD203B41FA5}">
                      <a16:colId xmlns:a16="http://schemas.microsoft.com/office/drawing/2014/main" val="4107043562"/>
                    </a:ext>
                  </a:extLst>
                </a:gridCol>
              </a:tblGrid>
              <a:tr h="4853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작업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787842"/>
                  </a:ext>
                </a:extLst>
              </a:tr>
              <a:tr h="485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엔진 준비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테스트를 위한 맵 구성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도로 구현 및 시각화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7827795"/>
                  </a:ext>
                </a:extLst>
              </a:tr>
              <a:tr h="485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물리 기반 말의 움직임 </a:t>
                      </a:r>
                      <a:r>
                        <a:rPr lang="en-US" altLang="ko-KR" dirty="0"/>
                        <a:t>&amp; AI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프로토타입 구현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플레이어 조작에 대한 반응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4939433"/>
                  </a:ext>
                </a:extLst>
              </a:tr>
              <a:tr h="485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말 애니메이션 구현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절벽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언덕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장애물 등과의 상호작용 구현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우회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점프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정지 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899632"/>
                  </a:ext>
                </a:extLst>
              </a:tr>
              <a:tr h="485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도로 추종 이동 구현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Steering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품질 개선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0716880"/>
                  </a:ext>
                </a:extLst>
              </a:tr>
              <a:tr h="485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몸통 기울기 계산 및 급경사 미끄러짐 구현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센서 개선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6209165"/>
                  </a:ext>
                </a:extLst>
              </a:tr>
              <a:tr h="485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승하차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기능 및 하차 시의 말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AI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8869962"/>
                  </a:ext>
                </a:extLst>
              </a:tr>
              <a:tr h="485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성능 지표 설정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측정 및 최적화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989608"/>
                  </a:ext>
                </a:extLst>
              </a:tr>
              <a:tr h="485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폴리싱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500123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724A034-FF8E-6D6E-98D1-A548BF9128E6}"/>
              </a:ext>
            </a:extLst>
          </p:cNvPr>
          <p:cNvSpPr txBox="1"/>
          <p:nvPr/>
        </p:nvSpPr>
        <p:spPr>
          <a:xfrm>
            <a:off x="8387963" y="1388824"/>
            <a:ext cx="2965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/>
              <a:t>범주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00B0F0"/>
                </a:solidFill>
              </a:rPr>
              <a:t>■추가</a:t>
            </a:r>
            <a:r>
              <a:rPr lang="en-US" altLang="ko-KR" dirty="0">
                <a:solidFill>
                  <a:srgbClr val="00B0F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■삭제</a:t>
            </a:r>
          </a:p>
        </p:txBody>
      </p:sp>
    </p:spTree>
    <p:extLst>
      <p:ext uri="{BB962C8B-B14F-4D97-AF65-F5344CB8AC3E}">
        <p14:creationId xmlns:p14="http://schemas.microsoft.com/office/powerpoint/2010/main" val="4259078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15605</TotalTime>
  <Words>1266</Words>
  <Application>Microsoft Office PowerPoint</Application>
  <PresentationFormat>와이드스크린</PresentationFormat>
  <Paragraphs>216</Paragraphs>
  <Slides>28</Slides>
  <Notes>12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5" baseType="lpstr">
      <vt:lpstr>D2Coding</vt:lpstr>
      <vt:lpstr>Noto Sans KR DemiLight</vt:lpstr>
      <vt:lpstr>Noto Sans KR Light</vt:lpstr>
      <vt:lpstr>맑은 고딕</vt:lpstr>
      <vt:lpstr>Arial</vt:lpstr>
      <vt:lpstr>Cambria Math</vt:lpstr>
      <vt:lpstr>Office 테마</vt:lpstr>
      <vt:lpstr>7주차 작업 현황 보고</vt:lpstr>
      <vt:lpstr>작업 한 것</vt:lpstr>
      <vt:lpstr>최적화 기준</vt:lpstr>
      <vt:lpstr>레퍼런스 분석</vt:lpstr>
      <vt:lpstr>레퍼런스 분석</vt:lpstr>
      <vt:lpstr>최적화에 사용한 전제 조건</vt:lpstr>
      <vt:lpstr>Agent Radius가 너무 크지 않나?</vt:lpstr>
      <vt:lpstr>최적화에 사용한 전제 조건</vt:lpstr>
      <vt:lpstr>청크 도입</vt:lpstr>
      <vt:lpstr>침식 필터</vt:lpstr>
      <vt:lpstr>침식 필터</vt:lpstr>
      <vt:lpstr>PowerPoint 프레젠테이션</vt:lpstr>
      <vt:lpstr>PowerPoint 프레젠테이션</vt:lpstr>
      <vt:lpstr>PowerPoint 프레젠테이션</vt:lpstr>
      <vt:lpstr>청크 도입 &amp; 침식 필터</vt:lpstr>
      <vt:lpstr>Bake 과정 최적화</vt:lpstr>
      <vt:lpstr>청크 스트리밍 추가</vt:lpstr>
      <vt:lpstr>청크 스트리밍 추가</vt:lpstr>
      <vt:lpstr>청크 스트리밍 추가</vt:lpstr>
      <vt:lpstr>HPA*</vt:lpstr>
      <vt:lpstr>경로 평탄화 (Path smoothing)</vt:lpstr>
      <vt:lpstr>1차 시도: Douglas-Peucker algorithm</vt:lpstr>
      <vt:lpstr>1차 시도: Douglas-Peucker algorithm</vt:lpstr>
      <vt:lpstr>1차 시도: Douglas-Peucker algorithm</vt:lpstr>
      <vt:lpstr>2차 시도: Greedy way</vt:lpstr>
      <vt:lpstr>2차 시도: Greedy way</vt:lpstr>
      <vt:lpstr>2차 시도: Greedy way</vt:lpstr>
      <vt:lpstr>작업 계획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김태현</dc:creator>
  <cp:lastModifiedBy>김태현</cp:lastModifiedBy>
  <cp:revision>148</cp:revision>
  <dcterms:created xsi:type="dcterms:W3CDTF">2026-07-02T06:32:55Z</dcterms:created>
  <dcterms:modified xsi:type="dcterms:W3CDTF">2026-08-14T07:37:59Z</dcterms:modified>
</cp:coreProperties>
</file>